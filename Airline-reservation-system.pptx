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9"/>
  </p:notesMasterIdLst>
  <p:handoutMasterIdLst>
    <p:handoutMasterId r:id="rId20"/>
  </p:handoutMasterIdLst>
  <p:sldIdLst>
    <p:sldId id="256" r:id="rId2"/>
    <p:sldId id="275" r:id="rId3"/>
    <p:sldId id="258" r:id="rId4"/>
    <p:sldId id="259" r:id="rId5"/>
    <p:sldId id="260" r:id="rId6"/>
    <p:sldId id="262" r:id="rId7"/>
    <p:sldId id="263" r:id="rId8"/>
    <p:sldId id="264" r:id="rId9"/>
    <p:sldId id="278" r:id="rId10"/>
    <p:sldId id="265" r:id="rId11"/>
    <p:sldId id="266" r:id="rId12"/>
    <p:sldId id="268" r:id="rId13"/>
    <p:sldId id="277" r:id="rId14"/>
    <p:sldId id="272" r:id="rId15"/>
    <p:sldId id="273" r:id="rId16"/>
    <p:sldId id="276" r:id="rId17"/>
    <p:sldId id="274"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j95GIJMPiAIq6ieNG2WJyDCl5SE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C780B4-EE44-4B4E-8B11-E8FB5B24D745}" v="3" dt="2025-12-18T04:56:27.935"/>
  </p1510:revLst>
</p1510:revInfo>
</file>

<file path=ppt/tableStyles.xml><?xml version="1.0" encoding="utf-8"?>
<a:tblStyleLst xmlns:a="http://schemas.openxmlformats.org/drawingml/2006/main" def="{2C294917-DC56-4E23-8613-8D8DCECCCFD7}">
  <a:tblStyle styleId="{2C294917-DC56-4E23-8613-8D8DCECCCFD7}"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56D70C72-A230-495A-A0E0-260AFDBB6498}"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461" autoAdjust="0"/>
  </p:normalViewPr>
  <p:slideViewPr>
    <p:cSldViewPr snapToGrid="0">
      <p:cViewPr varScale="1">
        <p:scale>
          <a:sx n="70" d="100"/>
          <a:sy n="70" d="100"/>
        </p:scale>
        <p:origin x="1810"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9AFCB3-4527-4ABC-92BA-AFC58B4DDEFD}" type="datetimeFigureOut">
              <a:rPr lang="en-IN" smtClean="0"/>
              <a:t>18-12-2025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FFAE6-31F3-4AD7-A46E-41C32C68E25E}" type="slidenum">
              <a:rPr lang="en-IN" smtClean="0"/>
              <a:t>‹#›</a:t>
            </a:fld>
            <a:endParaRPr lang="en-IN"/>
          </a:p>
        </p:txBody>
      </p:sp>
    </p:spTree>
    <p:extLst>
      <p:ext uri="{BB962C8B-B14F-4D97-AF65-F5344CB8AC3E}">
        <p14:creationId xmlns:p14="http://schemas.microsoft.com/office/powerpoint/2010/main" val="30570028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2476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 name="Google Shape;104;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9" name="Google Shape;13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6" name="Google Shape;14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E1C2BB26-DE90-8BFE-6350-D32A22375CE2}"/>
            </a:ext>
          </a:extLst>
        </p:cNvPr>
        <p:cNvGrpSpPr/>
        <p:nvPr/>
      </p:nvGrpSpPr>
      <p:grpSpPr>
        <a:xfrm>
          <a:off x="0" y="0"/>
          <a:ext cx="0" cy="0"/>
          <a:chOff x="0" y="0"/>
          <a:chExt cx="0" cy="0"/>
        </a:xfrm>
      </p:grpSpPr>
      <p:sp>
        <p:nvSpPr>
          <p:cNvPr id="145" name="Google Shape;145;p9:notes">
            <a:extLst>
              <a:ext uri="{FF2B5EF4-FFF2-40B4-BE49-F238E27FC236}">
                <a16:creationId xmlns:a16="http://schemas.microsoft.com/office/drawing/2014/main" id="{5A56CFD0-28C9-A59C-C06C-81689381810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6" name="Google Shape;146;p9:notes">
            <a:extLst>
              <a:ext uri="{FF2B5EF4-FFF2-40B4-BE49-F238E27FC236}">
                <a16:creationId xmlns:a16="http://schemas.microsoft.com/office/drawing/2014/main" id="{BA8B9FA6-A384-BDF6-A588-79E7FA849CD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7961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3" name="Google Shape;15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0" name="Google Shape;16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E6C49F6-22BC-8219-F8E1-10197982539C}"/>
            </a:ext>
          </a:extLst>
        </p:cNvPr>
        <p:cNvGrpSpPr/>
        <p:nvPr/>
      </p:nvGrpSpPr>
      <p:grpSpPr>
        <a:xfrm>
          <a:off x="0" y="0"/>
          <a:ext cx="0" cy="0"/>
          <a:chOff x="0" y="0"/>
          <a:chExt cx="0" cy="0"/>
        </a:xfrm>
      </p:grpSpPr>
      <p:sp>
        <p:nvSpPr>
          <p:cNvPr id="173" name="Google Shape;173;p13:notes">
            <a:extLst>
              <a:ext uri="{FF2B5EF4-FFF2-40B4-BE49-F238E27FC236}">
                <a16:creationId xmlns:a16="http://schemas.microsoft.com/office/drawing/2014/main" id="{320B8754-2E0D-8964-1E22-68F5DFD1F30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3:notes">
            <a:extLst>
              <a:ext uri="{FF2B5EF4-FFF2-40B4-BE49-F238E27FC236}">
                <a16:creationId xmlns:a16="http://schemas.microsoft.com/office/drawing/2014/main" id="{12EE68EB-84D1-289A-9249-5DFC2DE77A9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4102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092319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468084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201763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3887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20" name="Google Shape;2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32" name="Google Shape;3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39" name="Google Shape;3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48" name="Google Shape;4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53" name="Google Shape;5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57" name="Google Shape;5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64" name="Google Shape;6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5"/>
          <p:cNvSpPr>
            <a:spLocks noGrp="1"/>
          </p:cNvSpPr>
          <p:nvPr>
            <p:ph type="pic" idx="2"/>
          </p:nvPr>
        </p:nvSpPr>
        <p:spPr>
          <a:xfrm>
            <a:off x="1792288" y="612775"/>
            <a:ext cx="5486400" cy="4114800"/>
          </a:xfrm>
          <a:prstGeom prst="rect">
            <a:avLst/>
          </a:prstGeom>
          <a:noFill/>
          <a:ln>
            <a:noFill/>
          </a:ln>
        </p:spPr>
      </p:sp>
      <p:sp>
        <p:nvSpPr>
          <p:cNvPr id="68" name="Google Shape;68;p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71" name="Google Shape;71;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77" name="Google Shape;7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School of Computer Science and Engineering                                       Date:                             Slide number:</a:t>
            </a:r>
            <a:endParaRPr/>
          </a:p>
        </p:txBody>
      </p:sp>
      <p:sp>
        <p:nvSpPr>
          <p:cNvPr id="83" name="Google Shape;8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School of Computer Science and Engineering                                       Date:                             Slide number:</a:t>
            </a:r>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955800" y="469900"/>
            <a:ext cx="6807200" cy="1330326"/>
          </a:xfrm>
          <a:prstGeom prst="rect">
            <a:avLst/>
          </a:prstGeom>
          <a:noFill/>
          <a:ln>
            <a:noFill/>
          </a:ln>
        </p:spPr>
        <p:txBody>
          <a:bodyPr spcFirstLastPara="1" wrap="square" lIns="91425" tIns="45700" rIns="91425" bIns="45700" anchor="ctr" anchorCtr="0">
            <a:noAutofit/>
          </a:bodyPr>
          <a:lstStyle/>
          <a:p>
            <a:pPr>
              <a:buSzPts val="2000"/>
            </a:pPr>
            <a:r>
              <a:rPr lang="en-US" sz="2000" b="1" dirty="0">
                <a:latin typeface="Times New Roman"/>
                <a:ea typeface="Times New Roman"/>
                <a:cs typeface="Times New Roman"/>
                <a:sym typeface="Times New Roman"/>
              </a:rPr>
              <a:t>SRM INSTITUTE OF SCIENCE AND TECHNOLOGY</a:t>
            </a:r>
            <a:br>
              <a:rPr lang="en-US" sz="1800" b="1" dirty="0">
                <a:latin typeface="Times New Roman"/>
                <a:ea typeface="Times New Roman"/>
                <a:cs typeface="Times New Roman"/>
                <a:sym typeface="Times New Roman"/>
              </a:rPr>
            </a:br>
            <a:r>
              <a:rPr lang="en-US" sz="1800" b="1" dirty="0">
                <a:latin typeface="Times New Roman"/>
                <a:ea typeface="Times New Roman"/>
                <a:cs typeface="Times New Roman"/>
                <a:sym typeface="Times New Roman"/>
              </a:rPr>
              <a:t>Chennai – 600 089</a:t>
            </a:r>
            <a:br>
              <a:rPr lang="en-US" sz="18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SCHOOL OF COMPUTER SCIENCE ENGINEERING </a:t>
            </a:r>
            <a:br>
              <a:rPr lang="en-US" sz="1600" b="1" dirty="0">
                <a:latin typeface="Times New Roman"/>
                <a:ea typeface="Times New Roman"/>
                <a:cs typeface="Times New Roman"/>
                <a:sym typeface="Times New Roman"/>
              </a:rPr>
            </a:br>
            <a:r>
              <a:rPr lang="en-US" sz="1600" b="1" dirty="0">
                <a:latin typeface="Times New Roman"/>
                <a:ea typeface="Times New Roman"/>
                <a:cs typeface="Times New Roman"/>
                <a:sym typeface="Times New Roman"/>
              </a:rPr>
              <a:t>DEPARTMENT OF COMPUTER SCIENCE AND ENGINEERING W/S IN ARTIFICIAL INTELLIGENCE AND MACHINE LEARNING</a:t>
            </a:r>
            <a:br>
              <a:rPr lang="en-US" sz="1600" dirty="0"/>
            </a:br>
            <a:endParaRPr sz="1600" dirty="0"/>
          </a:p>
        </p:txBody>
      </p:sp>
      <p:sp>
        <p:nvSpPr>
          <p:cNvPr id="89" name="Google Shape;89;p1"/>
          <p:cNvSpPr txBox="1">
            <a:spLocks noGrp="1"/>
          </p:cNvSpPr>
          <p:nvPr>
            <p:ph type="subTitle" idx="1"/>
          </p:nvPr>
        </p:nvSpPr>
        <p:spPr>
          <a:xfrm>
            <a:off x="533400" y="1560717"/>
            <a:ext cx="8077200" cy="48048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1800"/>
              <a:buNone/>
            </a:pPr>
            <a:endParaRPr lang="en-IN" sz="2400" b="1" dirty="0">
              <a:solidFill>
                <a:schemeClr val="dk1"/>
              </a:solidFill>
              <a:sym typeface="Arial" panose="020B0604020202020204"/>
            </a:endParaRPr>
          </a:p>
          <a:p>
            <a:pPr marL="0" lvl="0" indent="0" algn="ctr" rtl="0">
              <a:spcBef>
                <a:spcPts val="0"/>
              </a:spcBef>
              <a:spcAft>
                <a:spcPts val="0"/>
              </a:spcAft>
              <a:buClr>
                <a:schemeClr val="dk1"/>
              </a:buClr>
              <a:buSzPts val="1800"/>
              <a:buNone/>
            </a:pPr>
            <a:r>
              <a:rPr lang="en-IN" sz="1800" b="1" dirty="0">
                <a:solidFill>
                  <a:schemeClr val="dk1"/>
                </a:solidFill>
                <a:sym typeface="Arial" panose="020B0604020202020204"/>
              </a:rPr>
              <a:t>PLACEMENT TRAINING PROJECT</a:t>
            </a:r>
          </a:p>
          <a:p>
            <a:pPr marL="0" lvl="0" indent="0" algn="ctr" rtl="0">
              <a:spcBef>
                <a:spcPts val="0"/>
              </a:spcBef>
              <a:spcAft>
                <a:spcPts val="0"/>
              </a:spcAft>
              <a:buClr>
                <a:schemeClr val="dk1"/>
              </a:buClr>
              <a:buSzPts val="1800"/>
              <a:buNone/>
            </a:pPr>
            <a:endParaRPr dirty="0"/>
          </a:p>
          <a:p>
            <a:pPr marL="0" lvl="0" indent="0" algn="ctr" rtl="0">
              <a:spcBef>
                <a:spcPts val="640"/>
              </a:spcBef>
              <a:spcAft>
                <a:spcPts val="0"/>
              </a:spcAft>
              <a:buClr>
                <a:schemeClr val="dk1"/>
              </a:buClr>
              <a:buSzPts val="3200"/>
              <a:buNone/>
            </a:pPr>
            <a:r>
              <a:rPr lang="en-US" dirty="0">
                <a:solidFill>
                  <a:schemeClr val="dk1"/>
                </a:solidFill>
              </a:rPr>
              <a:t>    </a:t>
            </a:r>
          </a:p>
          <a:p>
            <a:pPr marL="0" lvl="0" indent="0" algn="ctr" rtl="0">
              <a:spcBef>
                <a:spcPts val="640"/>
              </a:spcBef>
              <a:spcAft>
                <a:spcPts val="0"/>
              </a:spcAft>
              <a:buClr>
                <a:schemeClr val="dk1"/>
              </a:buClr>
              <a:buSzPts val="3200"/>
              <a:buNone/>
            </a:pPr>
            <a:r>
              <a:rPr lang="en-US" sz="3600" dirty="0">
                <a:solidFill>
                  <a:schemeClr val="dk1"/>
                </a:solidFill>
              </a:rPr>
              <a:t>AIRLINE RESERVATION SYSTEM</a:t>
            </a:r>
            <a:endParaRPr sz="3600" dirty="0"/>
          </a:p>
          <a:p>
            <a:pPr marL="0" lvl="0" indent="0" algn="ctr" rtl="0">
              <a:spcBef>
                <a:spcPts val="640"/>
              </a:spcBef>
              <a:spcAft>
                <a:spcPts val="0"/>
              </a:spcAft>
              <a:buClr>
                <a:srgbClr val="888888"/>
              </a:buClr>
              <a:buSzPts val="3200"/>
              <a:buNone/>
            </a:pPr>
            <a:endParaRPr dirty="0">
              <a:solidFill>
                <a:schemeClr val="dk1"/>
              </a:solidFill>
            </a:endParaRPr>
          </a:p>
        </p:txBody>
      </p:sp>
      <p:sp>
        <p:nvSpPr>
          <p:cNvPr id="90" name="Google Shape;90;p1"/>
          <p:cNvSpPr txBox="1"/>
          <p:nvPr/>
        </p:nvSpPr>
        <p:spPr>
          <a:xfrm>
            <a:off x="1600200" y="2579275"/>
            <a:ext cx="5943600" cy="551873"/>
          </a:xfrm>
          <a:prstGeom prst="rect">
            <a:avLst/>
          </a:prstGeom>
          <a:noFill/>
          <a:ln>
            <a:noFill/>
          </a:ln>
        </p:spPr>
        <p:txBody>
          <a:bodyPr spcFirstLastPara="1" wrap="square" lIns="91425" tIns="45700" rIns="91425" bIns="45700" anchor="t" anchorCtr="0">
            <a:noAutofit/>
          </a:bodyPr>
          <a:lstStyle/>
          <a:p>
            <a:pPr marL="0" marR="0" lvl="0" indent="0" algn="ctr" rtl="0">
              <a:spcBef>
                <a:spcPts val="280"/>
              </a:spcBef>
              <a:spcAft>
                <a:spcPts val="0"/>
              </a:spcAft>
              <a:buClr>
                <a:schemeClr val="dk1"/>
              </a:buClr>
              <a:buSzPts val="1400"/>
              <a:buFont typeface="Arial"/>
              <a:buNone/>
            </a:pPr>
            <a:r>
              <a:rPr lang="en-US" sz="1600" b="1" i="0" u="none" strike="noStrike" cap="none" dirty="0">
                <a:solidFill>
                  <a:schemeClr val="dk1"/>
                </a:solidFill>
                <a:latin typeface="Calibri"/>
                <a:ea typeface="Calibri"/>
                <a:cs typeface="Calibri"/>
                <a:sym typeface="Calibri"/>
              </a:rPr>
              <a:t>CLASS/YEAR/SEC : AIML/III/</a:t>
            </a:r>
            <a:r>
              <a:rPr lang="en-US" sz="1600" b="1" dirty="0">
                <a:solidFill>
                  <a:schemeClr val="dk1"/>
                </a:solidFill>
                <a:latin typeface="Calibri"/>
                <a:ea typeface="Calibri"/>
                <a:cs typeface="Calibri"/>
                <a:sym typeface="Calibri"/>
              </a:rPr>
              <a:t>B</a:t>
            </a:r>
            <a:r>
              <a:rPr lang="en-US" sz="1600" b="1" i="0" u="none" strike="noStrike" cap="none" dirty="0">
                <a:solidFill>
                  <a:schemeClr val="dk1"/>
                </a:solidFill>
                <a:latin typeface="Calibri"/>
                <a:ea typeface="Calibri"/>
                <a:cs typeface="Calibri"/>
                <a:sym typeface="Calibri"/>
              </a:rPr>
              <a:t>                                  BATCH NUMBER </a:t>
            </a:r>
            <a:r>
              <a:rPr lang="en-US" sz="1600" b="0" i="0" u="none" strike="noStrike" cap="none" dirty="0">
                <a:solidFill>
                  <a:schemeClr val="dk1"/>
                </a:solidFill>
                <a:latin typeface="Calibri"/>
                <a:ea typeface="Calibri"/>
                <a:cs typeface="Calibri"/>
                <a:sym typeface="Calibri"/>
              </a:rPr>
              <a:t>: 4</a:t>
            </a:r>
            <a:endParaRPr sz="1600" dirty="0"/>
          </a:p>
        </p:txBody>
      </p:sp>
      <p:graphicFrame>
        <p:nvGraphicFramePr>
          <p:cNvPr id="91" name="Google Shape;91;p1"/>
          <p:cNvGraphicFramePr/>
          <p:nvPr>
            <p:extLst>
              <p:ext uri="{D42A27DB-BD31-4B8C-83A1-F6EECF244321}">
                <p14:modId xmlns:p14="http://schemas.microsoft.com/office/powerpoint/2010/main" val="1940279063"/>
              </p:ext>
            </p:extLst>
          </p:nvPr>
        </p:nvGraphicFramePr>
        <p:xfrm>
          <a:off x="533400" y="4317585"/>
          <a:ext cx="8305800" cy="1503230"/>
        </p:xfrm>
        <a:graphic>
          <a:graphicData uri="http://schemas.openxmlformats.org/drawingml/2006/table">
            <a:tbl>
              <a:tblPr firstRow="1" bandRow="1">
                <a:noFill/>
                <a:tableStyleId>{2C294917-DC56-4E23-8613-8D8DCECCCFD7}</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438886">
                <a:tc>
                  <a:txBody>
                    <a:bodyPr/>
                    <a:lstStyle/>
                    <a:p>
                      <a:pPr marL="0" marR="0" lvl="0" indent="0" algn="ctr" rtl="0">
                        <a:spcBef>
                          <a:spcPts val="0"/>
                        </a:spcBef>
                        <a:spcAft>
                          <a:spcPts val="0"/>
                        </a:spcAft>
                        <a:buNone/>
                      </a:pPr>
                      <a:r>
                        <a:rPr lang="en-US" sz="1800" u="none" strike="noStrike" cap="none" dirty="0"/>
                        <a:t>Team Members </a:t>
                      </a:r>
                      <a:endParaRPr dirty="0"/>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Calibri"/>
                        <a:buNone/>
                      </a:pPr>
                      <a:r>
                        <a:rPr lang="en-US" sz="1800" dirty="0"/>
                        <a:t>Supervisor</a:t>
                      </a:r>
                      <a:endParaRPr dirty="0"/>
                    </a:p>
                  </a:txBody>
                  <a:tcPr marL="91450" marR="91450" marT="45725" marB="45725"/>
                </a:tc>
                <a:extLst>
                  <a:ext uri="{0D108BD9-81ED-4DB2-BD59-A6C34878D82A}">
                    <a16:rowId xmlns:a16="http://schemas.microsoft.com/office/drawing/2014/main" val="10000"/>
                  </a:ext>
                </a:extLst>
              </a:tr>
              <a:tr h="1064344">
                <a:tc>
                  <a:txBody>
                    <a:bodyPr/>
                    <a:lstStyle/>
                    <a:p>
                      <a:pPr marL="0" marR="0" lvl="0" indent="0" algn="l" rtl="0">
                        <a:spcBef>
                          <a:spcPts val="0"/>
                        </a:spcBef>
                        <a:spcAft>
                          <a:spcPts val="0"/>
                        </a:spcAft>
                        <a:buNone/>
                      </a:pPr>
                      <a:r>
                        <a:rPr lang="en-US" sz="2000" b="0" dirty="0"/>
                        <a:t>J. Arun                   (RA2311026020077)</a:t>
                      </a:r>
                    </a:p>
                    <a:p>
                      <a:pPr marL="0" marR="0" lvl="0" indent="0" algn="l" rtl="0">
                        <a:spcBef>
                          <a:spcPts val="0"/>
                        </a:spcBef>
                        <a:spcAft>
                          <a:spcPts val="0"/>
                        </a:spcAft>
                        <a:buNone/>
                      </a:pPr>
                      <a:r>
                        <a:rPr lang="en-US" sz="2000" b="0" dirty="0"/>
                        <a:t>Tamil Selvan. K    (RA2311026020090)</a:t>
                      </a:r>
                      <a:endParaRPr sz="2000" b="0" dirty="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chemeClr val="dk1"/>
                        </a:buClr>
                        <a:buSzPts val="1800"/>
                        <a:buFont typeface="Calibri"/>
                        <a:buNone/>
                        <a:tabLst/>
                        <a:defRPr/>
                      </a:pPr>
                      <a:r>
                        <a:rPr lang="en-US" sz="1800" b="0" dirty="0"/>
                        <a:t>NAME</a:t>
                      </a:r>
                      <a:r>
                        <a:rPr lang="en-US" sz="2400" b="0" dirty="0"/>
                        <a:t>:</a:t>
                      </a:r>
                      <a:r>
                        <a:rPr lang="en-US" sz="1800" b="0" dirty="0"/>
                        <a:t> Mr. Dinesh G.T</a:t>
                      </a:r>
                      <a:endParaRPr lang="en-US" b="0" dirty="0"/>
                    </a:p>
                    <a:p>
                      <a:pPr marL="0" marR="0" lvl="0" indent="0" algn="l" rtl="0">
                        <a:lnSpc>
                          <a:spcPct val="100000"/>
                        </a:lnSpc>
                        <a:spcBef>
                          <a:spcPts val="0"/>
                        </a:spcBef>
                        <a:spcAft>
                          <a:spcPts val="0"/>
                        </a:spcAft>
                        <a:buClr>
                          <a:schemeClr val="dk1"/>
                        </a:buClr>
                        <a:buSzPts val="1800"/>
                        <a:buFont typeface="Calibri"/>
                        <a:buNone/>
                      </a:pPr>
                      <a:endParaRPr b="0" dirty="0"/>
                    </a:p>
                  </a:txBody>
                  <a:tcPr marL="91450" marR="91450" marT="45725" marB="45725"/>
                </a:tc>
                <a:extLst>
                  <a:ext uri="{0D108BD9-81ED-4DB2-BD59-A6C34878D82A}">
                    <a16:rowId xmlns:a16="http://schemas.microsoft.com/office/drawing/2014/main" val="10001"/>
                  </a:ext>
                </a:extLst>
              </a:tr>
            </a:tbl>
          </a:graphicData>
        </a:graphic>
      </p:graphicFrame>
      <p:pic>
        <p:nvPicPr>
          <p:cNvPr id="93" name="Google Shape;93;p1" title="NEW LOGO.jpg"/>
          <p:cNvPicPr preferRelativeResize="0"/>
          <p:nvPr/>
        </p:nvPicPr>
        <p:blipFill>
          <a:blip r:embed="rId3">
            <a:alphaModFix/>
          </a:blip>
          <a:stretch>
            <a:fillRect/>
          </a:stretch>
        </p:blipFill>
        <p:spPr>
          <a:xfrm>
            <a:off x="393700" y="348343"/>
            <a:ext cx="1472149" cy="82477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165"/>
            <a:ext cx="8229600" cy="653617"/>
          </a:xfrm>
        </p:spPr>
        <p:txBody>
          <a:bodyPr>
            <a:normAutofit fontScale="90000"/>
          </a:bodyPr>
          <a:lstStyle/>
          <a:p>
            <a:r>
              <a:rPr lang="en-US" dirty="0"/>
              <a:t>AGENDA</a:t>
            </a:r>
          </a:p>
        </p:txBody>
      </p:sp>
      <p:sp>
        <p:nvSpPr>
          <p:cNvPr id="3" name="Content Placeholder 2"/>
          <p:cNvSpPr>
            <a:spLocks noGrp="1"/>
          </p:cNvSpPr>
          <p:nvPr>
            <p:ph idx="1"/>
          </p:nvPr>
        </p:nvSpPr>
        <p:spPr>
          <a:xfrm>
            <a:off x="457200" y="1078838"/>
            <a:ext cx="8229600" cy="5047326"/>
          </a:xfrm>
        </p:spPr>
        <p:txBody>
          <a:bodyPr>
            <a:normAutofit fontScale="40000" lnSpcReduction="20000"/>
          </a:bodyPr>
          <a:lstStyle/>
          <a:p>
            <a:pPr rtl="0" fontAlgn="base">
              <a:spcBef>
                <a:spcPts val="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Abstract</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Scope and Motivation</a:t>
            </a:r>
          </a:p>
          <a:p>
            <a:pPr rtl="0" fontAlgn="base">
              <a:spcBef>
                <a:spcPts val="1000"/>
              </a:spcBef>
              <a:spcAft>
                <a:spcPts val="0"/>
              </a:spcAft>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Introduction</a:t>
            </a:r>
          </a:p>
          <a:p>
            <a:pPr rtl="0" fontAlgn="base">
              <a:spcBef>
                <a:spcPts val="1000"/>
              </a:spcBef>
              <a:spcAft>
                <a:spcPts val="0"/>
              </a:spcAft>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Objective</a:t>
            </a:r>
            <a:endParaRPr lang="en-US" sz="48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Bef>
                <a:spcPts val="1000"/>
              </a:spcBef>
              <a:spcAft>
                <a:spcPts val="0"/>
              </a:spcAft>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Problem Statement</a:t>
            </a:r>
          </a:p>
          <a:p>
            <a:pPr rtl="0" fontAlgn="base">
              <a:spcBef>
                <a:spcPts val="1000"/>
              </a:spcBef>
              <a:spcAft>
                <a:spcPts val="0"/>
              </a:spcAft>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Proposed Work</a:t>
            </a:r>
          </a:p>
          <a:p>
            <a:pPr lvl="1" fontAlgn="base">
              <a:spcBef>
                <a:spcPts val="1000"/>
              </a:spcBef>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Architecture Diagram</a:t>
            </a:r>
          </a:p>
          <a:p>
            <a:pPr lvl="1" fontAlgn="base">
              <a:spcBef>
                <a:spcPts val="1000"/>
              </a:spcBef>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ER Diagram</a:t>
            </a:r>
            <a:endParaRPr lang="en-US" sz="4800" b="0" i="0" u="none" strike="noStrike" dirty="0">
              <a:solidFill>
                <a:srgbClr val="000000"/>
              </a:solidFill>
              <a:effectLst/>
              <a:latin typeface="Times New Roman" panose="02020603050405020304" pitchFamily="18" charset="0"/>
              <a:cs typeface="Times New Roman" panose="02020603050405020304" pitchFamily="18" charset="0"/>
            </a:endParaRPr>
          </a:p>
          <a:p>
            <a:pPr lvl="1" fontAlgn="base">
              <a:spcBef>
                <a:spcPts val="1000"/>
              </a:spcBef>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Novel idea</a:t>
            </a:r>
          </a:p>
          <a:p>
            <a:pPr lvl="1" fontAlgn="base">
              <a:spcBef>
                <a:spcPts val="1000"/>
              </a:spcBef>
              <a:buFont typeface="Arial" panose="020B0604020202020204" pitchFamily="34" charset="0"/>
              <a:buChar char="•"/>
            </a:pPr>
            <a:r>
              <a:rPr lang="en-US" sz="4800" dirty="0">
                <a:solidFill>
                  <a:srgbClr val="000000"/>
                </a:solidFill>
                <a:latin typeface="Times New Roman" panose="02020603050405020304" pitchFamily="18" charset="0"/>
                <a:cs typeface="Times New Roman" panose="02020603050405020304" pitchFamily="18" charset="0"/>
              </a:rPr>
              <a:t>Modules</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Module Output</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Results and Discussion</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Conclusion</a:t>
            </a:r>
          </a:p>
          <a:p>
            <a:pPr rtl="0" fontAlgn="base">
              <a:spcBef>
                <a:spcPts val="1000"/>
              </a:spcBef>
              <a:spcAft>
                <a:spcPts val="0"/>
              </a:spcAft>
              <a:buFont typeface="Arial" panose="020B0604020202020204" pitchFamily="34" charset="0"/>
              <a:buChar char="•"/>
            </a:pPr>
            <a:r>
              <a:rPr lang="en-US" sz="4800" b="0" i="0" u="none" strike="noStrike" dirty="0">
                <a:solidFill>
                  <a:srgbClr val="000000"/>
                </a:solidFill>
                <a:effectLst/>
                <a:latin typeface="Times New Roman" panose="02020603050405020304" pitchFamily="18" charset="0"/>
                <a:cs typeface="Times New Roman" panose="02020603050405020304" pitchFamily="18" charset="0"/>
              </a:rPr>
              <a:t>Future Work</a:t>
            </a:r>
          </a:p>
        </p:txBody>
      </p:sp>
      <p:sp>
        <p:nvSpPr>
          <p:cNvPr id="6" name="Footer Placeholder 5"/>
          <p:cNvSpPr>
            <a:spLocks noGrp="1"/>
          </p:cNvSpPr>
          <p:nvPr>
            <p:ph type="ftr" idx="11"/>
          </p:nvPr>
        </p:nvSpPr>
        <p:spPr>
          <a:xfrm>
            <a:off x="284018" y="6356350"/>
            <a:ext cx="8652163" cy="365125"/>
          </a:xfrm>
        </p:spPr>
        <p:txBody>
          <a:bodyPr/>
          <a:lstStyle/>
          <a:p>
            <a:pPr algn="l"/>
            <a:r>
              <a:rPr lang="en-US" sz="1400" dirty="0"/>
              <a:t>School of Computer Science and Engineering                                       Date: 18/12/2025                             Slide number:</a:t>
            </a:r>
          </a:p>
        </p:txBody>
      </p:sp>
      <p:sp>
        <p:nvSpPr>
          <p:cNvPr id="7" name="Slide Number Placeholder 6"/>
          <p:cNvSpPr>
            <a:spLocks noGrp="1"/>
          </p:cNvSpPr>
          <p:nvPr>
            <p:ph type="sldNum" idx="12"/>
          </p:nvPr>
        </p:nvSpPr>
        <p:spPr>
          <a:xfrm>
            <a:off x="6553200" y="6356350"/>
            <a:ext cx="2253522" cy="365125"/>
          </a:xfrm>
        </p:spPr>
        <p:txBody>
          <a:bodyPr/>
          <a:lstStyle/>
          <a:p>
            <a:pPr marL="0" lvl="0" indent="0" algn="r" rtl="0">
              <a:spcBef>
                <a:spcPts val="0"/>
              </a:spcBef>
              <a:spcAft>
                <a:spcPts val="0"/>
              </a:spcAft>
              <a:buNone/>
            </a:pPr>
            <a:r>
              <a:rPr lang="en-US" dirty="0"/>
              <a:t> </a:t>
            </a:r>
            <a:fld id="{00000000-1234-1234-1234-123412341234}" type="slidenum">
              <a:rPr lang="en-US" smtClean="0"/>
              <a:t>2</a:t>
            </a:fld>
            <a:endParaRPr lang="en-US" dirty="0"/>
          </a:p>
        </p:txBody>
      </p:sp>
      <p:cxnSp>
        <p:nvCxnSpPr>
          <p:cNvPr id="5" name="Straight Connector 4"/>
          <p:cNvCxnSpPr/>
          <p:nvPr/>
        </p:nvCxnSpPr>
        <p:spPr>
          <a:xfrm flipV="1">
            <a:off x="0" y="782782"/>
            <a:ext cx="9144000" cy="48491"/>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12313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457200" y="13855"/>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ABSTRACT</a:t>
            </a:r>
            <a:endParaRPr dirty="0"/>
          </a:p>
        </p:txBody>
      </p:sp>
      <p:sp>
        <p:nvSpPr>
          <p:cNvPr id="107" name="Google Shape;107;p3"/>
          <p:cNvSpPr txBox="1">
            <a:spLocks noGrp="1"/>
          </p:cNvSpPr>
          <p:nvPr>
            <p:ph type="body" idx="1"/>
          </p:nvPr>
        </p:nvSpPr>
        <p:spPr>
          <a:xfrm>
            <a:off x="374754" y="1435225"/>
            <a:ext cx="8229600" cy="2424547"/>
          </a:xfrm>
          <a:prstGeom prst="rect">
            <a:avLst/>
          </a:prstGeom>
          <a:noFill/>
          <a:ln>
            <a:noFill/>
          </a:ln>
        </p:spPr>
        <p:txBody>
          <a:bodyPr spcFirstLastPara="1" wrap="square" lIns="91425" tIns="45700" rIns="91425" bIns="45700" anchor="t" anchorCtr="0">
            <a:normAutofit/>
          </a:bodyPr>
          <a:lstStyle/>
          <a:p>
            <a:pPr marL="101600" lvl="0" indent="0" algn="just">
              <a:lnSpc>
                <a:spcPct val="115000"/>
              </a:lnSpc>
              <a:spcBef>
                <a:spcPts val="1200"/>
              </a:spcBef>
              <a:buSzPts val="2000"/>
              <a:buNone/>
            </a:pPr>
            <a:r>
              <a:rPr lang="en-US" sz="2000" dirty="0">
                <a:latin typeface="Times New Roman" panose="02020603050405020304" pitchFamily="18" charset="0"/>
                <a:ea typeface="Arial" panose="020B0604020202020204"/>
                <a:cs typeface="Times New Roman" panose="02020603050405020304" pitchFamily="18" charset="0"/>
                <a:sym typeface="Arial" panose="020B0604020202020204"/>
              </a:rPr>
              <a:t>Airline Reservation System is a Java-based console application integrated with MS SQL Server that manages flight ticket booking and cancellation. It uses OOP principles such as abstraction, inheritance, encapsulation and polymorphism to handle passengers, seat allocation and fare calculation. The system supports real-time seat availability, passenger search, and revenue tracking using JDBC and SQL CRUD operations.</a:t>
            </a:r>
            <a:endParaRPr lang="en-US" sz="3400" dirty="0"/>
          </a:p>
          <a:p>
            <a:pPr marL="342900" lvl="0" indent="-139700" algn="just" rtl="0">
              <a:spcBef>
                <a:spcPts val="0"/>
              </a:spcBef>
              <a:spcAft>
                <a:spcPts val="0"/>
              </a:spcAft>
              <a:buClr>
                <a:schemeClr val="dk1"/>
              </a:buClr>
              <a:buSzPts val="3200"/>
              <a:buNone/>
            </a:pPr>
            <a:endParaRPr sz="2000" b="1" dirty="0"/>
          </a:p>
        </p:txBody>
      </p:sp>
      <p:sp>
        <p:nvSpPr>
          <p:cNvPr id="108" name="Google Shape;108;p3"/>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School of Computer Science and Engineering                                       Date:18/12/2025                                                          </a:t>
            </a:r>
            <a:endParaRPr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r>
              <a:rPr lang="en-US" dirty="0"/>
              <a:t>Slide number: 3</a:t>
            </a:r>
          </a:p>
        </p:txBody>
      </p:sp>
      <p:cxnSp>
        <p:nvCxnSpPr>
          <p:cNvPr id="6" name="Straight Connector 5"/>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457200" y="69706"/>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SCOPE AND MOTIVATION</a:t>
            </a:r>
          </a:p>
        </p:txBody>
      </p:sp>
      <p:sp>
        <p:nvSpPr>
          <p:cNvPr id="115" name="Google Shape;115;p4"/>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School of Computer Science and Engineering                                       Date: 18/12/2025                                                    Slide number:</a:t>
            </a:r>
            <a:endParaRPr dirty="0"/>
          </a:p>
        </p:txBody>
      </p:sp>
      <p:sp>
        <p:nvSpPr>
          <p:cNvPr id="2" name="Slide Number Placeholder 1"/>
          <p:cNvSpPr>
            <a:spLocks noGrp="1"/>
          </p:cNvSpPr>
          <p:nvPr>
            <p:ph type="sldNum" idx="12"/>
          </p:nvPr>
        </p:nvSpPr>
        <p:spPr>
          <a:xfrm>
            <a:off x="6553200" y="6435003"/>
            <a:ext cx="2133600" cy="286472"/>
          </a:xfrm>
        </p:spPr>
        <p:txBody>
          <a:bodyPr/>
          <a:lstStyle/>
          <a:p>
            <a:pPr marL="0" lvl="0" indent="0" algn="r" rtl="0">
              <a:spcBef>
                <a:spcPts val="0"/>
              </a:spcBef>
              <a:spcAft>
                <a:spcPts val="0"/>
              </a:spcAft>
              <a:buNone/>
            </a:pPr>
            <a:fld id="{00000000-1234-1234-1234-123412341234}" type="slidenum">
              <a:rPr lang="en-US" smtClean="0"/>
              <a:t>4</a:t>
            </a:fld>
            <a:endParaRPr lang="en-US" dirty="0"/>
          </a:p>
        </p:txBody>
      </p:sp>
      <p:cxnSp>
        <p:nvCxnSpPr>
          <p:cNvPr id="6" name="Straight Connector 5"/>
          <p:cNvCxnSpPr/>
          <p:nvPr/>
        </p:nvCxnSpPr>
        <p:spPr>
          <a:xfrm flipV="1">
            <a:off x="0" y="1194378"/>
            <a:ext cx="9144000" cy="78653"/>
          </a:xfrm>
          <a:prstGeom prst="line">
            <a:avLst/>
          </a:prstGeom>
          <a:ln/>
        </p:spPr>
        <p:style>
          <a:lnRef idx="1">
            <a:schemeClr val="dk1"/>
          </a:lnRef>
          <a:fillRef idx="0">
            <a:schemeClr val="dk1"/>
          </a:fillRef>
          <a:effectRef idx="0">
            <a:schemeClr val="dk1"/>
          </a:effectRef>
          <a:fontRef idx="minor">
            <a:schemeClr val="tx1"/>
          </a:fontRef>
        </p:style>
      </p:cxnSp>
      <p:graphicFrame>
        <p:nvGraphicFramePr>
          <p:cNvPr id="7" name="Table 6">
            <a:extLst>
              <a:ext uri="{FF2B5EF4-FFF2-40B4-BE49-F238E27FC236}">
                <a16:creationId xmlns:a16="http://schemas.microsoft.com/office/drawing/2014/main" id="{3728CA17-6147-3436-034D-CB929FC90EE8}"/>
              </a:ext>
            </a:extLst>
          </p:cNvPr>
          <p:cNvGraphicFramePr>
            <a:graphicFrameLocks noGrp="1"/>
          </p:cNvGraphicFramePr>
          <p:nvPr>
            <p:extLst>
              <p:ext uri="{D42A27DB-BD31-4B8C-83A1-F6EECF244321}">
                <p14:modId xmlns:p14="http://schemas.microsoft.com/office/powerpoint/2010/main" val="1823755887"/>
              </p:ext>
            </p:extLst>
          </p:nvPr>
        </p:nvGraphicFramePr>
        <p:xfrm>
          <a:off x="869430" y="1655624"/>
          <a:ext cx="7405140" cy="4304201"/>
        </p:xfrm>
        <a:graphic>
          <a:graphicData uri="http://schemas.openxmlformats.org/drawingml/2006/table">
            <a:tbl>
              <a:tblPr firstRow="1" bandRow="1">
                <a:tableStyleId>{5940675A-B579-460E-94D1-54222C63F5DA}</a:tableStyleId>
              </a:tblPr>
              <a:tblGrid>
                <a:gridCol w="3702570">
                  <a:extLst>
                    <a:ext uri="{9D8B030D-6E8A-4147-A177-3AD203B41FA5}">
                      <a16:colId xmlns:a16="http://schemas.microsoft.com/office/drawing/2014/main" val="3526957981"/>
                    </a:ext>
                  </a:extLst>
                </a:gridCol>
                <a:gridCol w="3702570">
                  <a:extLst>
                    <a:ext uri="{9D8B030D-6E8A-4147-A177-3AD203B41FA5}">
                      <a16:colId xmlns:a16="http://schemas.microsoft.com/office/drawing/2014/main" val="2001450949"/>
                    </a:ext>
                  </a:extLst>
                </a:gridCol>
              </a:tblGrid>
              <a:tr h="877714">
                <a:tc>
                  <a:txBody>
                    <a:bodyPr/>
                    <a:lstStyle/>
                    <a:p>
                      <a:endParaRPr lang="en-IN" dirty="0"/>
                    </a:p>
                  </a:txBody>
                  <a:tcPr>
                    <a:solidFill>
                      <a:schemeClr val="bg2">
                        <a:lumMod val="40000"/>
                        <a:lumOff val="60000"/>
                      </a:schemeClr>
                    </a:solidFill>
                  </a:tcPr>
                </a:tc>
                <a:tc>
                  <a:txBody>
                    <a:bodyPr/>
                    <a:lstStyle/>
                    <a:p>
                      <a:endParaRPr lang="en-IN" dirty="0"/>
                    </a:p>
                  </a:txBody>
                  <a:tcPr>
                    <a:solidFill>
                      <a:schemeClr val="bg2">
                        <a:lumMod val="40000"/>
                        <a:lumOff val="60000"/>
                      </a:schemeClr>
                    </a:solidFill>
                  </a:tcPr>
                </a:tc>
                <a:extLst>
                  <a:ext uri="{0D108BD9-81ED-4DB2-BD59-A6C34878D82A}">
                    <a16:rowId xmlns:a16="http://schemas.microsoft.com/office/drawing/2014/main" val="3914274164"/>
                  </a:ext>
                </a:extLst>
              </a:tr>
              <a:tr h="3426487">
                <a:tc>
                  <a:txBody>
                    <a:bodyPr/>
                    <a:lstStyle/>
                    <a:p>
                      <a:endParaRPr lang="en-IN" dirty="0">
                        <a:solidFill>
                          <a:schemeClr val="tx1"/>
                        </a:solidFill>
                      </a:endParaRPr>
                    </a:p>
                  </a:txBody>
                  <a:tcPr/>
                </a:tc>
                <a:tc>
                  <a:txBody>
                    <a:bodyPr/>
                    <a:lstStyle/>
                    <a:p>
                      <a:endParaRPr lang="en-IN" dirty="0"/>
                    </a:p>
                  </a:txBody>
                  <a:tcPr/>
                </a:tc>
                <a:extLst>
                  <a:ext uri="{0D108BD9-81ED-4DB2-BD59-A6C34878D82A}">
                    <a16:rowId xmlns:a16="http://schemas.microsoft.com/office/drawing/2014/main" val="3587872778"/>
                  </a:ext>
                </a:extLst>
              </a:tr>
            </a:tbl>
          </a:graphicData>
        </a:graphic>
      </p:graphicFrame>
      <p:sp>
        <p:nvSpPr>
          <p:cNvPr id="8" name="TextBox 7">
            <a:extLst>
              <a:ext uri="{FF2B5EF4-FFF2-40B4-BE49-F238E27FC236}">
                <a16:creationId xmlns:a16="http://schemas.microsoft.com/office/drawing/2014/main" id="{CCB554C2-3D15-3CE4-DB7A-4DC18FC6BDA2}"/>
              </a:ext>
            </a:extLst>
          </p:cNvPr>
          <p:cNvSpPr txBox="1"/>
          <p:nvPr/>
        </p:nvSpPr>
        <p:spPr>
          <a:xfrm>
            <a:off x="1978700" y="1751372"/>
            <a:ext cx="1414170" cy="646331"/>
          </a:xfrm>
          <a:prstGeom prst="rect">
            <a:avLst/>
          </a:prstGeom>
          <a:noFill/>
        </p:spPr>
        <p:txBody>
          <a:bodyPr wrap="none" rtlCol="0">
            <a:spAutoFit/>
          </a:bodyPr>
          <a:lstStyle/>
          <a:p>
            <a:pPr algn="just"/>
            <a:r>
              <a:rPr lang="en-IN" sz="3600" dirty="0">
                <a:latin typeface="Calibri" panose="020F0502020204030204" pitchFamily="34" charset="0"/>
                <a:ea typeface="Calibri" panose="020F0502020204030204" pitchFamily="34" charset="0"/>
                <a:cs typeface="Calibri" panose="020F0502020204030204" pitchFamily="34" charset="0"/>
              </a:rPr>
              <a:t>SCOPE</a:t>
            </a:r>
          </a:p>
        </p:txBody>
      </p:sp>
      <p:sp>
        <p:nvSpPr>
          <p:cNvPr id="9" name="TextBox 8">
            <a:extLst>
              <a:ext uri="{FF2B5EF4-FFF2-40B4-BE49-F238E27FC236}">
                <a16:creationId xmlns:a16="http://schemas.microsoft.com/office/drawing/2014/main" id="{34531338-8B72-32C4-39A8-461199B001FB}"/>
              </a:ext>
            </a:extLst>
          </p:cNvPr>
          <p:cNvSpPr txBox="1"/>
          <p:nvPr/>
        </p:nvSpPr>
        <p:spPr>
          <a:xfrm>
            <a:off x="5202509" y="1751372"/>
            <a:ext cx="2701381" cy="646331"/>
          </a:xfrm>
          <a:prstGeom prst="rect">
            <a:avLst/>
          </a:prstGeom>
          <a:noFill/>
        </p:spPr>
        <p:txBody>
          <a:bodyPr wrap="none" rtlCol="0">
            <a:spAutoFit/>
          </a:bodyPr>
          <a:lstStyle/>
          <a:p>
            <a:pPr algn="just"/>
            <a:r>
              <a:rPr lang="en-IN" sz="3600" dirty="0">
                <a:latin typeface="Calibri" panose="020F0502020204030204" pitchFamily="34" charset="0"/>
                <a:ea typeface="Calibri" panose="020F0502020204030204" pitchFamily="34" charset="0"/>
                <a:cs typeface="Calibri" panose="020F0502020204030204" pitchFamily="34" charset="0"/>
              </a:rPr>
              <a:t>MOTIVATION</a:t>
            </a:r>
          </a:p>
        </p:txBody>
      </p:sp>
      <p:sp>
        <p:nvSpPr>
          <p:cNvPr id="10" name="Rectangle 1">
            <a:extLst>
              <a:ext uri="{FF2B5EF4-FFF2-40B4-BE49-F238E27FC236}">
                <a16:creationId xmlns:a16="http://schemas.microsoft.com/office/drawing/2014/main" id="{070E1CF9-0691-AFC4-9F91-5631CD3C0DF0}"/>
              </a:ext>
            </a:extLst>
          </p:cNvPr>
          <p:cNvSpPr>
            <a:spLocks noChangeArrowheads="1"/>
          </p:cNvSpPr>
          <p:nvPr/>
        </p:nvSpPr>
        <p:spPr bwMode="auto">
          <a:xfrm>
            <a:off x="980654" y="2655270"/>
            <a:ext cx="349391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Focus:</a:t>
            </a:r>
            <a:r>
              <a:rPr kumimoji="0" lang="en-US" altLang="en-US" sz="1600" b="0" i="0" u="none" strike="noStrike" cap="none" normalizeH="0" baseline="0" dirty="0">
                <a:ln>
                  <a:noFill/>
                </a:ln>
                <a:solidFill>
                  <a:schemeClr val="tx1"/>
                </a:solidFill>
                <a:effectLst/>
                <a:latin typeface="Arial" panose="020B0604020202020204" pitchFamily="34" charset="0"/>
              </a:rPr>
              <a:t> Ticket management and seat inventory control for a specific flight entity.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Functions:</a:t>
            </a:r>
            <a:r>
              <a:rPr kumimoji="0" lang="en-US" altLang="en-US" sz="1600" b="0" i="0" u="none" strike="noStrike" cap="none" normalizeH="0" baseline="0" dirty="0">
                <a:ln>
                  <a:noFill/>
                </a:ln>
                <a:solidFill>
                  <a:schemeClr val="tx1"/>
                </a:solidFill>
                <a:effectLst/>
                <a:latin typeface="Arial" panose="020B0604020202020204" pitchFamily="34" charset="0"/>
              </a:rPr>
              <a:t> Booking processing, cancellation handling, passenger record retrieval, and revenue calculation.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Emphasis:</a:t>
            </a:r>
            <a:r>
              <a:rPr kumimoji="0" lang="en-US" altLang="en-US" sz="1600" b="0" i="0" u="none" strike="noStrike" cap="none" normalizeH="0" baseline="0" dirty="0">
                <a:ln>
                  <a:noFill/>
                </a:ln>
                <a:solidFill>
                  <a:schemeClr val="tx1"/>
                </a:solidFill>
                <a:effectLst/>
                <a:latin typeface="Arial" panose="020B0604020202020204" pitchFamily="34" charset="0"/>
              </a:rPr>
              <a:t> Integration of Object-Oriented Java logic with SQL Server database operations.</a:t>
            </a:r>
          </a:p>
        </p:txBody>
      </p:sp>
      <p:sp>
        <p:nvSpPr>
          <p:cNvPr id="11" name="Rectangle 1">
            <a:extLst>
              <a:ext uri="{FF2B5EF4-FFF2-40B4-BE49-F238E27FC236}">
                <a16:creationId xmlns:a16="http://schemas.microsoft.com/office/drawing/2014/main" id="{49B069CB-C34E-A982-41AD-80E2AEA5C459}"/>
              </a:ext>
            </a:extLst>
          </p:cNvPr>
          <p:cNvSpPr>
            <a:spLocks noChangeArrowheads="1"/>
          </p:cNvSpPr>
          <p:nvPr/>
        </p:nvSpPr>
        <p:spPr bwMode="auto">
          <a:xfrm>
            <a:off x="4669438" y="2655270"/>
            <a:ext cx="337278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buClrTx/>
            </a:pPr>
            <a:r>
              <a:rPr lang="en-US" altLang="en-US" sz="1600" b="1" dirty="0">
                <a:solidFill>
                  <a:schemeClr val="tx1"/>
                </a:solidFill>
                <a:latin typeface="Arial" panose="020B0604020202020204" pitchFamily="34" charset="0"/>
              </a:rPr>
              <a:t>Addresses:</a:t>
            </a:r>
            <a:r>
              <a:rPr lang="en-US" altLang="en-US" sz="1600" dirty="0">
                <a:solidFill>
                  <a:schemeClr val="tx1"/>
                </a:solidFill>
                <a:latin typeface="Arial" panose="020B0604020202020204" pitchFamily="34" charset="0"/>
              </a:rPr>
              <a:t> The problem of losing data when a program closes (since it uses a database now).</a:t>
            </a:r>
          </a:p>
          <a:p>
            <a:pPr lvl="0" algn="just" eaLnBrk="0" fontAlgn="base" hangingPunct="0">
              <a:spcBef>
                <a:spcPct val="0"/>
              </a:spcBef>
              <a:spcAft>
                <a:spcPct val="0"/>
              </a:spcAft>
              <a:buClrTx/>
              <a:buFontTx/>
              <a:buChar char="•"/>
            </a:pPr>
            <a:endParaRPr lang="en-US" altLang="en-US" sz="1600" dirty="0">
              <a:solidFill>
                <a:schemeClr val="tx1"/>
              </a:solidFill>
              <a:latin typeface="Arial" panose="020B0604020202020204" pitchFamily="34" charset="0"/>
            </a:endParaRPr>
          </a:p>
          <a:p>
            <a:pPr lvl="0" algn="just" eaLnBrk="0" fontAlgn="base" hangingPunct="0">
              <a:spcBef>
                <a:spcPct val="0"/>
              </a:spcBef>
              <a:spcAft>
                <a:spcPct val="0"/>
              </a:spcAft>
              <a:buClrTx/>
            </a:pPr>
            <a:r>
              <a:rPr lang="en-US" altLang="en-US" sz="1600" b="1" dirty="0">
                <a:solidFill>
                  <a:schemeClr val="tx1"/>
                </a:solidFill>
                <a:latin typeface="Arial" panose="020B0604020202020204" pitchFamily="34" charset="0"/>
              </a:rPr>
              <a:t>Enables:</a:t>
            </a:r>
            <a:r>
              <a:rPr lang="en-US" altLang="en-US" sz="1600" dirty="0">
                <a:solidFill>
                  <a:schemeClr val="tx1"/>
                </a:solidFill>
                <a:latin typeface="Arial" panose="020B0604020202020204" pitchFamily="34" charset="0"/>
              </a:rPr>
              <a:t> Calculating ticket prices automatically based on the seat class (Economy vs. Business).</a:t>
            </a:r>
          </a:p>
          <a:p>
            <a:pPr lvl="0" algn="just" eaLnBrk="0" fontAlgn="base" hangingPunct="0">
              <a:spcBef>
                <a:spcPct val="0"/>
              </a:spcBef>
              <a:spcAft>
                <a:spcPct val="0"/>
              </a:spcAft>
              <a:buClrTx/>
            </a:pPr>
            <a:endParaRPr lang="en-US" altLang="en-US" sz="1600" dirty="0">
              <a:solidFill>
                <a:schemeClr val="tx1"/>
              </a:solidFill>
              <a:latin typeface="Arial" panose="020B0604020202020204" pitchFamily="34" charset="0"/>
            </a:endParaRPr>
          </a:p>
          <a:p>
            <a:pPr lvl="0" algn="just" eaLnBrk="0" fontAlgn="base" hangingPunct="0">
              <a:spcBef>
                <a:spcPct val="0"/>
              </a:spcBef>
              <a:spcAft>
                <a:spcPct val="0"/>
              </a:spcAft>
              <a:buClrTx/>
            </a:pPr>
            <a:r>
              <a:rPr lang="en-US" altLang="en-US" sz="1600" b="1" dirty="0">
                <a:solidFill>
                  <a:schemeClr val="tx1"/>
                </a:solidFill>
                <a:latin typeface="Arial" panose="020B0604020202020204" pitchFamily="34" charset="0"/>
              </a:rPr>
              <a:t>Improves:</a:t>
            </a:r>
            <a:r>
              <a:rPr lang="en-US" altLang="en-US" sz="1600" dirty="0">
                <a:solidFill>
                  <a:schemeClr val="tx1"/>
                </a:solidFill>
                <a:latin typeface="Arial" panose="020B0604020202020204" pitchFamily="34" charset="0"/>
              </a:rPr>
              <a:t> Organization by replacing manual paper records with digital storage.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457200" y="5541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INTRODUCTION</a:t>
            </a:r>
          </a:p>
        </p:txBody>
      </p:sp>
      <p:sp>
        <p:nvSpPr>
          <p:cNvPr id="121" name="Google Shape;121;p5"/>
          <p:cNvSpPr txBox="1">
            <a:spLocks noGrp="1"/>
          </p:cNvSpPr>
          <p:nvPr>
            <p:ph type="body" idx="1"/>
          </p:nvPr>
        </p:nvSpPr>
        <p:spPr>
          <a:xfrm>
            <a:off x="457200" y="1370013"/>
            <a:ext cx="8229600" cy="2370727"/>
          </a:xfrm>
          <a:prstGeom prst="rect">
            <a:avLst/>
          </a:prstGeom>
          <a:noFill/>
          <a:ln>
            <a:noFill/>
          </a:ln>
        </p:spPr>
        <p:txBody>
          <a:bodyPr spcFirstLastPara="1" wrap="square" lIns="91425" tIns="45700" rIns="91425" bIns="45700" anchor="t" anchorCtr="0">
            <a:normAutofit/>
          </a:bodyPr>
          <a:lstStyle/>
          <a:p>
            <a:pPr marL="101600" lvl="0" indent="0" algn="just">
              <a:lnSpc>
                <a:spcPct val="115000"/>
              </a:lnSpc>
              <a:spcBef>
                <a:spcPts val="1200"/>
              </a:spcBef>
              <a:buSzPts val="2000"/>
              <a:buNone/>
            </a:pPr>
            <a:r>
              <a:rPr lang="en-US" sz="2000" dirty="0"/>
              <a:t>This project focuses on designing and implementing an automated Airline Reservation System to streamline the ticket booking process. The system will store and manage passenger data, flight seat availability and reservation records. It will provide tools to book tickets across various classes (Economy, Business, etc.), cancel reservations and generate revenue reports.</a:t>
            </a:r>
            <a:endParaRPr lang="en-US" sz="2000" dirty="0">
              <a:latin typeface="Times New Roman" panose="02020603050405020304" pitchFamily="18" charset="0"/>
              <a:cs typeface="Times New Roman" panose="02020603050405020304" pitchFamily="18" charset="0"/>
            </a:endParaRPr>
          </a:p>
          <a:p>
            <a:pPr marL="342900" lvl="0" indent="-139700" algn="just" rtl="0">
              <a:spcBef>
                <a:spcPts val="0"/>
              </a:spcBef>
              <a:spcAft>
                <a:spcPts val="0"/>
              </a:spcAft>
              <a:buClr>
                <a:schemeClr val="dk1"/>
              </a:buClr>
              <a:buSzPts val="3200"/>
              <a:buNone/>
            </a:pPr>
            <a:endParaRPr dirty="0"/>
          </a:p>
        </p:txBody>
      </p:sp>
      <p:sp>
        <p:nvSpPr>
          <p:cNvPr id="122" name="Google Shape;122;p5"/>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School of Computer Science and Engineering                                       Date: 18/12/2025                                                   Slide number:</a:t>
            </a:r>
            <a:endParaRPr dirty="0"/>
          </a:p>
        </p:txBody>
      </p:sp>
      <p:sp>
        <p:nvSpPr>
          <p:cNvPr id="2" name="Slide Number Placeholder 1"/>
          <p:cNvSpPr>
            <a:spLocks noGrp="1"/>
          </p:cNvSpPr>
          <p:nvPr>
            <p:ph type="sldNum" idx="12"/>
          </p:nvPr>
        </p:nvSpPr>
        <p:spPr>
          <a:xfrm>
            <a:off x="6568191" y="6438717"/>
            <a:ext cx="2133600" cy="275705"/>
          </a:xfrm>
        </p:spPr>
        <p:txBody>
          <a:bodyPr/>
          <a:lstStyle/>
          <a:p>
            <a:pPr marL="0" lvl="0" indent="0" algn="r" rtl="0">
              <a:spcBef>
                <a:spcPts val="0"/>
              </a:spcBef>
              <a:spcAft>
                <a:spcPts val="0"/>
              </a:spcAft>
              <a:buNone/>
            </a:pPr>
            <a:r>
              <a:rPr lang="en-US" dirty="0"/>
              <a:t> </a:t>
            </a:r>
            <a:fld id="{00000000-1234-1234-1234-123412341234}" type="slidenum">
              <a:rPr lang="en-US" smtClean="0"/>
              <a:t>5</a:t>
            </a:fld>
            <a:endParaRPr lang="en-US" dirty="0"/>
          </a:p>
        </p:txBody>
      </p:sp>
      <p:cxnSp>
        <p:nvCxnSpPr>
          <p:cNvPr id="6" name="Straight Connector 5"/>
          <p:cNvCxnSpPr/>
          <p:nvPr/>
        </p:nvCxnSpPr>
        <p:spPr>
          <a:xfrm flipV="1">
            <a:off x="0" y="1163782"/>
            <a:ext cx="9144000" cy="69273"/>
          </a:xfrm>
          <a:prstGeom prst="line">
            <a:avLst/>
          </a:prstGeom>
          <a:ln/>
        </p:spPr>
        <p:style>
          <a:lnRef idx="1">
            <a:schemeClr val="dk1"/>
          </a:lnRef>
          <a:fillRef idx="0">
            <a:schemeClr val="dk1"/>
          </a:fillRef>
          <a:effectRef idx="0">
            <a:schemeClr val="dk1"/>
          </a:effectRef>
          <a:fontRef idx="minor">
            <a:schemeClr val="tx1"/>
          </a:fontRef>
        </p:style>
      </p:cxnSp>
      <p:pic>
        <p:nvPicPr>
          <p:cNvPr id="7" name="Picture 6">
            <a:extLst>
              <a:ext uri="{FF2B5EF4-FFF2-40B4-BE49-F238E27FC236}">
                <a16:creationId xmlns:a16="http://schemas.microsoft.com/office/drawing/2014/main" id="{1C34A98D-5EFB-B27A-7AAA-4BC199B640FD}"/>
              </a:ext>
            </a:extLst>
          </p:cNvPr>
          <p:cNvPicPr>
            <a:picLocks noChangeAspect="1"/>
          </p:cNvPicPr>
          <p:nvPr/>
        </p:nvPicPr>
        <p:blipFill>
          <a:blip r:embed="rId3"/>
          <a:srcRect t="14327" b="6151"/>
          <a:stretch>
            <a:fillRect/>
          </a:stretch>
        </p:blipFill>
        <p:spPr>
          <a:xfrm>
            <a:off x="1907498" y="3345006"/>
            <a:ext cx="5329003" cy="29428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7"/>
          <p:cNvSpPr txBox="1">
            <a:spLocks noGrp="1"/>
          </p:cNvSpPr>
          <p:nvPr>
            <p:ph type="title"/>
          </p:nvPr>
        </p:nvSpPr>
        <p:spPr>
          <a:xfrm>
            <a:off x="457200" y="154854"/>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OBJECTIVES</a:t>
            </a:r>
          </a:p>
        </p:txBody>
      </p:sp>
      <p:sp>
        <p:nvSpPr>
          <p:cNvPr id="135" name="Google Shape;135;p7"/>
          <p:cNvSpPr txBox="1">
            <a:spLocks noGrp="1"/>
          </p:cNvSpPr>
          <p:nvPr>
            <p:ph type="body" idx="1"/>
          </p:nvPr>
        </p:nvSpPr>
        <p:spPr>
          <a:xfrm>
            <a:off x="323481" y="1094745"/>
            <a:ext cx="8497038" cy="5017948"/>
          </a:xfrm>
          <a:prstGeom prst="rect">
            <a:avLst/>
          </a:prstGeom>
          <a:noFill/>
          <a:ln>
            <a:noFill/>
          </a:ln>
        </p:spPr>
        <p:txBody>
          <a:bodyPr spcFirstLastPara="1" wrap="square" lIns="91425" tIns="45700" rIns="91425" bIns="45700" anchor="t" anchorCtr="0">
            <a:noAutofit/>
          </a:bodyPr>
          <a:lstStyle/>
          <a:p>
            <a:pPr marL="101600" lvl="0" indent="0" algn="just" rtl="0">
              <a:lnSpc>
                <a:spcPct val="115000"/>
              </a:lnSpc>
              <a:spcBef>
                <a:spcPts val="1200"/>
              </a:spcBef>
              <a:spcAft>
                <a:spcPts val="0"/>
              </a:spcAft>
              <a:buSzPts val="2000"/>
              <a:buNone/>
            </a:pPr>
            <a:endParaRPr lang="en-US"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lvl="0" indent="0" algn="just" eaLnBrk="0" fontAlgn="base" hangingPunct="0">
              <a:spcBef>
                <a:spcPct val="0"/>
              </a:spcBef>
              <a:spcAft>
                <a:spcPct val="0"/>
              </a:spcAft>
              <a:buClrTx/>
              <a:buSzTx/>
              <a:buNone/>
            </a:pPr>
            <a:r>
              <a:rPr lang="en-US" altLang="en-US" sz="1800" b="1" dirty="0">
                <a:solidFill>
                  <a:schemeClr val="tx1"/>
                </a:solidFill>
                <a:latin typeface="Arial" panose="020B0604020202020204" pitchFamily="34" charset="0"/>
              </a:rPr>
              <a:t>To automate</a:t>
            </a:r>
            <a:r>
              <a:rPr lang="en-US" altLang="en-US" sz="1800" dirty="0">
                <a:solidFill>
                  <a:schemeClr val="tx1"/>
                </a:solidFill>
                <a:latin typeface="Arial" panose="020B0604020202020204" pitchFamily="34" charset="0"/>
              </a:rPr>
              <a:t> the airline ticket booking process, reducing the need for manual paperwork and human error.</a:t>
            </a:r>
          </a:p>
          <a:p>
            <a:pPr marL="0" lvl="0" indent="0" algn="just" eaLnBrk="0" fontAlgn="base" hangingPunct="0">
              <a:spcBef>
                <a:spcPct val="0"/>
              </a:spcBef>
              <a:spcAft>
                <a:spcPct val="0"/>
              </a:spcAft>
              <a:buClrTx/>
              <a:buSzTx/>
              <a:buNone/>
            </a:pPr>
            <a:endParaRPr lang="en-US" altLang="en-US" sz="1800" dirty="0">
              <a:solidFill>
                <a:schemeClr val="tx1"/>
              </a:solidFill>
              <a:latin typeface="Arial" panose="020B0604020202020204" pitchFamily="34" charset="0"/>
            </a:endParaRPr>
          </a:p>
          <a:p>
            <a:pPr marL="0" lvl="0" indent="0" algn="just" eaLnBrk="0" fontAlgn="base" hangingPunct="0">
              <a:spcBef>
                <a:spcPct val="0"/>
              </a:spcBef>
              <a:spcAft>
                <a:spcPct val="0"/>
              </a:spcAft>
              <a:buClrTx/>
              <a:buSzTx/>
              <a:buNone/>
            </a:pPr>
            <a:r>
              <a:rPr lang="en-US" altLang="en-US" sz="1800" b="1" dirty="0">
                <a:solidFill>
                  <a:schemeClr val="tx1"/>
                </a:solidFill>
                <a:latin typeface="Arial" panose="020B0604020202020204" pitchFamily="34" charset="0"/>
              </a:rPr>
              <a:t>To implement</a:t>
            </a:r>
            <a:r>
              <a:rPr lang="en-US" altLang="en-US" sz="1800" dirty="0">
                <a:solidFill>
                  <a:schemeClr val="tx1"/>
                </a:solidFill>
                <a:latin typeface="Arial" panose="020B0604020202020204" pitchFamily="34" charset="0"/>
              </a:rPr>
              <a:t> a relational database system for the secure and persistent storage of passenger and flight records.</a:t>
            </a:r>
          </a:p>
          <a:p>
            <a:pPr marL="0" lvl="0" indent="0" algn="just" eaLnBrk="0" fontAlgn="base" hangingPunct="0">
              <a:spcBef>
                <a:spcPct val="0"/>
              </a:spcBef>
              <a:spcAft>
                <a:spcPct val="0"/>
              </a:spcAft>
              <a:buClrTx/>
              <a:buSzTx/>
              <a:buNone/>
            </a:pPr>
            <a:endParaRPr lang="en-US" altLang="en-US" sz="1800" dirty="0">
              <a:solidFill>
                <a:schemeClr val="tx1"/>
              </a:solidFill>
              <a:latin typeface="Arial" panose="020B0604020202020204" pitchFamily="34" charset="0"/>
            </a:endParaRPr>
          </a:p>
          <a:p>
            <a:pPr marL="0" lvl="0" indent="0" algn="just" eaLnBrk="0" fontAlgn="base" hangingPunct="0">
              <a:spcBef>
                <a:spcPct val="0"/>
              </a:spcBef>
              <a:spcAft>
                <a:spcPct val="0"/>
              </a:spcAft>
              <a:buClrTx/>
              <a:buSzTx/>
              <a:buNone/>
            </a:pPr>
            <a:r>
              <a:rPr lang="en-US" altLang="en-US" sz="1800" b="1" dirty="0">
                <a:solidFill>
                  <a:schemeClr val="tx1"/>
                </a:solidFill>
                <a:latin typeface="Arial" panose="020B0604020202020204" pitchFamily="34" charset="0"/>
              </a:rPr>
              <a:t>To ensure</a:t>
            </a:r>
            <a:r>
              <a:rPr lang="en-US" altLang="en-US" sz="1800" dirty="0">
                <a:solidFill>
                  <a:schemeClr val="tx1"/>
                </a:solidFill>
                <a:latin typeface="Arial" panose="020B0604020202020204" pitchFamily="34" charset="0"/>
              </a:rPr>
              <a:t> accurate inventory management by validating seat availability in </a:t>
            </a:r>
          </a:p>
          <a:p>
            <a:pPr marL="0" lvl="0" indent="0" algn="just" eaLnBrk="0" fontAlgn="base" hangingPunct="0">
              <a:spcBef>
                <a:spcPct val="0"/>
              </a:spcBef>
              <a:spcAft>
                <a:spcPct val="0"/>
              </a:spcAft>
              <a:buClrTx/>
              <a:buSzTx/>
              <a:buNone/>
            </a:pPr>
            <a:r>
              <a:rPr lang="en-US" altLang="en-US" sz="1800" dirty="0">
                <a:solidFill>
                  <a:schemeClr val="tx1"/>
                </a:solidFill>
                <a:latin typeface="Arial" panose="020B0604020202020204" pitchFamily="34" charset="0"/>
              </a:rPr>
              <a:t>real-time before confirming a reservation.</a:t>
            </a:r>
          </a:p>
          <a:p>
            <a:pPr marL="0" lvl="0" indent="0" algn="just" eaLnBrk="0" fontAlgn="base" hangingPunct="0">
              <a:spcBef>
                <a:spcPct val="0"/>
              </a:spcBef>
              <a:spcAft>
                <a:spcPct val="0"/>
              </a:spcAft>
              <a:buClrTx/>
              <a:buSzTx/>
              <a:buNone/>
            </a:pPr>
            <a:endParaRPr lang="en-US" altLang="en-US" sz="1800" dirty="0">
              <a:solidFill>
                <a:schemeClr val="tx1"/>
              </a:solidFill>
              <a:latin typeface="Arial" panose="020B0604020202020204" pitchFamily="34" charset="0"/>
            </a:endParaRPr>
          </a:p>
          <a:p>
            <a:pPr marL="0" lvl="0" indent="0" algn="just" eaLnBrk="0" fontAlgn="base" hangingPunct="0">
              <a:spcBef>
                <a:spcPct val="0"/>
              </a:spcBef>
              <a:spcAft>
                <a:spcPct val="0"/>
              </a:spcAft>
              <a:buClrTx/>
              <a:buSzTx/>
              <a:buNone/>
            </a:pPr>
            <a:r>
              <a:rPr lang="en-US" altLang="en-US" sz="1800" b="1" dirty="0">
                <a:solidFill>
                  <a:schemeClr val="tx1"/>
                </a:solidFill>
                <a:latin typeface="Arial" panose="020B0604020202020204" pitchFamily="34" charset="0"/>
              </a:rPr>
              <a:t>To facilitate</a:t>
            </a:r>
            <a:r>
              <a:rPr lang="en-US" altLang="en-US" sz="1800" dirty="0">
                <a:solidFill>
                  <a:schemeClr val="tx1"/>
                </a:solidFill>
                <a:latin typeface="Arial" panose="020B0604020202020204" pitchFamily="34" charset="0"/>
              </a:rPr>
              <a:t> financial tracking by automatically calculating fares based on seat class and generating total revenue reports. </a:t>
            </a:r>
          </a:p>
          <a:p>
            <a:pPr marL="0" lvl="0" indent="0" algn="just" eaLnBrk="0" fontAlgn="base" hangingPunct="0">
              <a:spcBef>
                <a:spcPct val="0"/>
              </a:spcBef>
              <a:spcAft>
                <a:spcPct val="0"/>
              </a:spcAft>
              <a:buClrTx/>
              <a:buSzTx/>
              <a:buNone/>
            </a:pPr>
            <a:endParaRPr lang="en-US" altLang="en-US" sz="1800" dirty="0">
              <a:solidFill>
                <a:schemeClr val="tx1"/>
              </a:solidFill>
              <a:latin typeface="Arial" panose="020B0604020202020204" pitchFamily="34" charset="0"/>
            </a:endParaRPr>
          </a:p>
          <a:p>
            <a:pPr marL="0" lvl="0" indent="0" algn="just" eaLnBrk="0" fontAlgn="base" hangingPunct="0">
              <a:spcBef>
                <a:spcPct val="0"/>
              </a:spcBef>
              <a:spcAft>
                <a:spcPct val="0"/>
              </a:spcAft>
              <a:buClrTx/>
              <a:buSzTx/>
              <a:buNone/>
            </a:pPr>
            <a:r>
              <a:rPr lang="en-US" sz="1800" b="1" dirty="0">
                <a:latin typeface="+mj-lt"/>
              </a:rPr>
              <a:t>To design</a:t>
            </a:r>
            <a:r>
              <a:rPr lang="en-US" sz="1800" dirty="0">
                <a:latin typeface="+mj-lt"/>
              </a:rPr>
              <a:t> a modular code structure by separating database connection logic from core business logic for better maintainability.</a:t>
            </a:r>
            <a:endParaRPr lang="en-US" altLang="en-US" sz="1800" dirty="0">
              <a:solidFill>
                <a:schemeClr val="tx1"/>
              </a:solidFill>
              <a:latin typeface="+mj-lt"/>
              <a:cs typeface="Times New Roman"/>
              <a:sym typeface="Times New Roman"/>
            </a:endParaRPr>
          </a:p>
        </p:txBody>
      </p:sp>
      <p:sp>
        <p:nvSpPr>
          <p:cNvPr id="136" name="Google Shape;136;p7"/>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lvl="0" algn="l"/>
            <a:r>
              <a:rPr lang="en-US" dirty="0"/>
              <a:t>School of Computer Science and Engineering                                       Date: 18/12/2025                                                     Slide number:</a:t>
            </a:r>
            <a:endParaRPr dirty="0"/>
          </a:p>
        </p:txBody>
      </p:sp>
      <p:sp>
        <p:nvSpPr>
          <p:cNvPr id="2" name="Slide Number Placeholder 1"/>
          <p:cNvSpPr>
            <a:spLocks noGrp="1"/>
          </p:cNvSpPr>
          <p:nvPr>
            <p:ph type="sldNum" idx="12"/>
          </p:nvPr>
        </p:nvSpPr>
        <p:spPr>
          <a:xfrm>
            <a:off x="6553200" y="6432331"/>
            <a:ext cx="2133600" cy="289144"/>
          </a:xfrm>
        </p:spPr>
        <p:txBody>
          <a:bodyPr/>
          <a:lstStyle/>
          <a:p>
            <a:pPr marL="0" lvl="0" indent="0" algn="r" rtl="0">
              <a:spcBef>
                <a:spcPts val="0"/>
              </a:spcBef>
              <a:spcAft>
                <a:spcPts val="0"/>
              </a:spcAft>
              <a:buNone/>
            </a:pPr>
            <a:fld id="{00000000-1234-1234-1234-123412341234}" type="slidenum">
              <a:rPr lang="en-US" smtClean="0"/>
              <a:t>6</a:t>
            </a:fld>
            <a:endParaRPr lang="en-US" dirty="0"/>
          </a:p>
        </p:txBody>
      </p:sp>
      <p:cxnSp>
        <p:nvCxnSpPr>
          <p:cNvPr id="6" name="Straight Connector 5"/>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8"/>
          <p:cNvSpPr txBox="1">
            <a:spLocks noGrp="1"/>
          </p:cNvSpPr>
          <p:nvPr>
            <p:ph type="title"/>
          </p:nvPr>
        </p:nvSpPr>
        <p:spPr>
          <a:xfrm>
            <a:off x="381785" y="160337"/>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PROBLEM STATEMENT</a:t>
            </a:r>
          </a:p>
        </p:txBody>
      </p:sp>
      <p:sp>
        <p:nvSpPr>
          <p:cNvPr id="143" name="Google Shape;143;p8"/>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lvl="0" algn="l"/>
            <a:r>
              <a:rPr lang="en-US" dirty="0"/>
              <a:t>School of Computer Science and Engineering                                       Date: 18/12/2025                                                     Slide number:</a:t>
            </a:r>
            <a:endParaRPr dirty="0"/>
          </a:p>
        </p:txBody>
      </p:sp>
      <p:sp>
        <p:nvSpPr>
          <p:cNvPr id="2" name="Slide Number Placeholder 1"/>
          <p:cNvSpPr>
            <a:spLocks noGrp="1"/>
          </p:cNvSpPr>
          <p:nvPr>
            <p:ph type="sldNum" idx="12"/>
          </p:nvPr>
        </p:nvSpPr>
        <p:spPr>
          <a:xfrm>
            <a:off x="6553200" y="6425623"/>
            <a:ext cx="2133600" cy="295852"/>
          </a:xfrm>
        </p:spPr>
        <p:txBody>
          <a:bodyPr/>
          <a:lstStyle/>
          <a:p>
            <a:pPr marL="0" lvl="0" indent="0" algn="r" rtl="0">
              <a:spcBef>
                <a:spcPts val="0"/>
              </a:spcBef>
              <a:spcAft>
                <a:spcPts val="0"/>
              </a:spcAft>
              <a:buNone/>
            </a:pPr>
            <a:r>
              <a:rPr lang="en-US" dirty="0"/>
              <a:t> </a:t>
            </a:r>
            <a:fld id="{00000000-1234-1234-1234-123412341234}" type="slidenum">
              <a:rPr lang="en-US" smtClean="0"/>
              <a:t>7</a:t>
            </a:fld>
            <a:endParaRPr lang="en-US" dirty="0"/>
          </a:p>
        </p:txBody>
      </p:sp>
      <p:cxnSp>
        <p:nvCxnSpPr>
          <p:cNvPr id="6" name="Straight Connector 5"/>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sp>
        <p:nvSpPr>
          <p:cNvPr id="4" name="Rectangle 2">
            <a:extLst>
              <a:ext uri="{FF2B5EF4-FFF2-40B4-BE49-F238E27FC236}">
                <a16:creationId xmlns:a16="http://schemas.microsoft.com/office/drawing/2014/main" id="{B36F4531-E71D-CCEA-1EC5-140C94413BD8}"/>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107D2364-B1BB-091B-1DF8-906E9EFBB99D}"/>
              </a:ext>
            </a:extLst>
          </p:cNvPr>
          <p:cNvSpPr>
            <a:spLocks noGrp="1" noChangeArrowheads="1"/>
          </p:cNvSpPr>
          <p:nvPr>
            <p:ph type="body" idx="1"/>
          </p:nvPr>
        </p:nvSpPr>
        <p:spPr bwMode="auto">
          <a:xfrm>
            <a:off x="648718" y="1571592"/>
            <a:ext cx="769573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Manual System Inefficiencies:</a:t>
            </a:r>
            <a:r>
              <a:rPr kumimoji="0" lang="en-US" altLang="en-US" sz="1800" b="0" i="0" u="none" strike="noStrike" cap="none" normalizeH="0" baseline="0" dirty="0">
                <a:ln>
                  <a:noFill/>
                </a:ln>
                <a:solidFill>
                  <a:schemeClr val="tx1"/>
                </a:solidFill>
                <a:effectLst/>
                <a:latin typeface="Arial" panose="020B0604020202020204" pitchFamily="34" charset="0"/>
              </a:rPr>
              <a:t> Traditional or manual methods of airline reservation involve significant paperwork, leading to slow processing times and inefficient data handling.</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Data Inconsistency and Loss:</a:t>
            </a:r>
            <a:r>
              <a:rPr kumimoji="0" lang="en-US" altLang="en-US" sz="1800" b="0" i="0" u="none" strike="noStrike" cap="none" normalizeH="0" baseline="0" dirty="0">
                <a:ln>
                  <a:noFill/>
                </a:ln>
                <a:solidFill>
                  <a:schemeClr val="tx1"/>
                </a:solidFill>
                <a:effectLst/>
                <a:latin typeface="Arial" panose="020B0604020202020204" pitchFamily="34" charset="0"/>
              </a:rPr>
              <a:t> Storing passenger records in physical files or non-relational formats often results in data redundancy, loss of information, and lack of data persistence.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Calculation Errors:</a:t>
            </a:r>
            <a:r>
              <a:rPr kumimoji="0" lang="en-US" altLang="en-US" sz="1800" b="0" i="0" u="none" strike="noStrike" cap="none" normalizeH="0" baseline="0" dirty="0">
                <a:ln>
                  <a:noFill/>
                </a:ln>
                <a:solidFill>
                  <a:schemeClr val="tx1"/>
                </a:solidFill>
                <a:effectLst/>
                <a:latin typeface="Arial" panose="020B0604020202020204" pitchFamily="34" charset="0"/>
              </a:rPr>
              <a:t> Manual calculation of fares based on different seat classes (Economy, Business, etc.) is prone to human error, affecting revenue accuracy.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Inventory Management Issues:</a:t>
            </a:r>
            <a:r>
              <a:rPr kumimoji="0" lang="en-US" altLang="en-US" sz="1800" b="0" i="0" u="none" strike="noStrike" cap="none" normalizeH="0" baseline="0" dirty="0">
                <a:ln>
                  <a:noFill/>
                </a:ln>
                <a:solidFill>
                  <a:schemeClr val="tx1"/>
                </a:solidFill>
                <a:effectLst/>
                <a:latin typeface="Arial" panose="020B0604020202020204" pitchFamily="34" charset="0"/>
              </a:rPr>
              <a:t> Without a centralized database, it is difficult to track real-time seat availability, leading to potential overbooking or underutilization of flight capacity.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9"/>
          <p:cNvSpPr txBox="1">
            <a:spLocks noGrp="1"/>
          </p:cNvSpPr>
          <p:nvPr>
            <p:ph type="title"/>
          </p:nvPr>
        </p:nvSpPr>
        <p:spPr>
          <a:xfrm>
            <a:off x="-446316" y="-10886"/>
            <a:ext cx="10036629"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dirty="0"/>
              <a:t>PROPOSED WORK-ARCHITECTURE DIAGRAM</a:t>
            </a:r>
          </a:p>
        </p:txBody>
      </p:sp>
      <p:sp>
        <p:nvSpPr>
          <p:cNvPr id="150" name="Google Shape;150;p9"/>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lvl="0" algn="l"/>
            <a:r>
              <a:rPr lang="en-US" dirty="0"/>
              <a:t>School of Computer Science and Engineering                                       Date: 18/12/2025                                                     Slide number:</a:t>
            </a:r>
            <a:endParaRPr dirty="0"/>
          </a:p>
        </p:txBody>
      </p:sp>
      <p:sp>
        <p:nvSpPr>
          <p:cNvPr id="2" name="Slide Number Placeholder 1"/>
          <p:cNvSpPr>
            <a:spLocks noGrp="1"/>
          </p:cNvSpPr>
          <p:nvPr>
            <p:ph type="sldNum" idx="12"/>
          </p:nvPr>
        </p:nvSpPr>
        <p:spPr>
          <a:xfrm>
            <a:off x="6553200" y="6486141"/>
            <a:ext cx="2133600" cy="176987"/>
          </a:xfrm>
        </p:spPr>
        <p:txBody>
          <a:bodyPr/>
          <a:lstStyle/>
          <a:p>
            <a:pPr marL="0" lvl="0" indent="0" algn="r" rtl="0">
              <a:spcBef>
                <a:spcPts val="0"/>
              </a:spcBef>
              <a:spcAft>
                <a:spcPts val="0"/>
              </a:spcAft>
              <a:buNone/>
            </a:pPr>
            <a:fld id="{00000000-1234-1234-1234-123412341234}" type="slidenum">
              <a:rPr lang="en-US" smtClean="0"/>
              <a:t>8</a:t>
            </a:fld>
            <a:endParaRPr lang="en-US" dirty="0"/>
          </a:p>
        </p:txBody>
      </p:sp>
      <p:cxnSp>
        <p:nvCxnSpPr>
          <p:cNvPr id="6" name="Straight Connector 5"/>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pic>
        <p:nvPicPr>
          <p:cNvPr id="10" name="Picture 9">
            <a:extLst>
              <a:ext uri="{FF2B5EF4-FFF2-40B4-BE49-F238E27FC236}">
                <a16:creationId xmlns:a16="http://schemas.microsoft.com/office/drawing/2014/main" id="{10CD9384-905C-A02B-92A5-B07C0B911E7D}"/>
              </a:ext>
            </a:extLst>
          </p:cNvPr>
          <p:cNvPicPr>
            <a:picLocks noChangeAspect="1"/>
          </p:cNvPicPr>
          <p:nvPr/>
        </p:nvPicPr>
        <p:blipFill>
          <a:blip r:embed="rId3"/>
          <a:stretch>
            <a:fillRect/>
          </a:stretch>
        </p:blipFill>
        <p:spPr>
          <a:xfrm>
            <a:off x="735034" y="1238155"/>
            <a:ext cx="7673931" cy="49136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864AAE9B-4E91-C698-21FD-03E1CB8F925F}"/>
            </a:ext>
          </a:extLst>
        </p:cNvPr>
        <p:cNvGrpSpPr/>
        <p:nvPr/>
      </p:nvGrpSpPr>
      <p:grpSpPr>
        <a:xfrm>
          <a:off x="0" y="0"/>
          <a:ext cx="0" cy="0"/>
          <a:chOff x="0" y="0"/>
          <a:chExt cx="0" cy="0"/>
        </a:xfrm>
      </p:grpSpPr>
      <p:sp>
        <p:nvSpPr>
          <p:cNvPr id="148" name="Google Shape;148;p9">
            <a:extLst>
              <a:ext uri="{FF2B5EF4-FFF2-40B4-BE49-F238E27FC236}">
                <a16:creationId xmlns:a16="http://schemas.microsoft.com/office/drawing/2014/main" id="{256E786F-A639-D2D1-C5FB-27E3FB25FA97}"/>
              </a:ext>
            </a:extLst>
          </p:cNvPr>
          <p:cNvSpPr txBox="1">
            <a:spLocks noGrp="1"/>
          </p:cNvSpPr>
          <p:nvPr>
            <p:ph type="title"/>
          </p:nvPr>
        </p:nvSpPr>
        <p:spPr>
          <a:xfrm>
            <a:off x="-446316" y="-10886"/>
            <a:ext cx="10036629"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PROPOSED WORK-ER DIAGRAM</a:t>
            </a:r>
          </a:p>
        </p:txBody>
      </p:sp>
      <p:sp>
        <p:nvSpPr>
          <p:cNvPr id="150" name="Google Shape;150;p9">
            <a:extLst>
              <a:ext uri="{FF2B5EF4-FFF2-40B4-BE49-F238E27FC236}">
                <a16:creationId xmlns:a16="http://schemas.microsoft.com/office/drawing/2014/main" id="{5934F7ED-BDFF-9082-AA98-F637610D5878}"/>
              </a:ext>
            </a:extLst>
          </p:cNvPr>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lvl="0" algn="l"/>
            <a:r>
              <a:rPr lang="en-US" dirty="0"/>
              <a:t>School of Computer Science and Engineering                                       Date: 18/12/2025                                                     Slide number:</a:t>
            </a:r>
            <a:endParaRPr dirty="0"/>
          </a:p>
        </p:txBody>
      </p:sp>
      <p:sp>
        <p:nvSpPr>
          <p:cNvPr id="2" name="Slide Number Placeholder 1">
            <a:extLst>
              <a:ext uri="{FF2B5EF4-FFF2-40B4-BE49-F238E27FC236}">
                <a16:creationId xmlns:a16="http://schemas.microsoft.com/office/drawing/2014/main" id="{6F0FF488-1B53-6CDC-174F-FC762E4E88A1}"/>
              </a:ext>
            </a:extLst>
          </p:cNvPr>
          <p:cNvSpPr>
            <a:spLocks noGrp="1"/>
          </p:cNvSpPr>
          <p:nvPr>
            <p:ph type="sldNum" idx="12"/>
          </p:nvPr>
        </p:nvSpPr>
        <p:spPr>
          <a:xfrm>
            <a:off x="6553200" y="6486141"/>
            <a:ext cx="2133600" cy="176987"/>
          </a:xfrm>
        </p:spPr>
        <p:txBody>
          <a:bodyPr/>
          <a:lstStyle/>
          <a:p>
            <a:pPr marL="0" lvl="0" indent="0" algn="r" rtl="0">
              <a:spcBef>
                <a:spcPts val="0"/>
              </a:spcBef>
              <a:spcAft>
                <a:spcPts val="0"/>
              </a:spcAft>
              <a:buNone/>
            </a:pPr>
            <a:fld id="{00000000-1234-1234-1234-123412341234}" type="slidenum">
              <a:rPr lang="en-US" smtClean="0"/>
              <a:t>9</a:t>
            </a:fld>
            <a:endParaRPr lang="en-US" dirty="0"/>
          </a:p>
        </p:txBody>
      </p:sp>
      <p:cxnSp>
        <p:nvCxnSpPr>
          <p:cNvPr id="6" name="Straight Connector 5">
            <a:extLst>
              <a:ext uri="{FF2B5EF4-FFF2-40B4-BE49-F238E27FC236}">
                <a16:creationId xmlns:a16="http://schemas.microsoft.com/office/drawing/2014/main" id="{B211B2B3-C2EA-5002-9DC9-09EC7FF0BB43}"/>
              </a:ext>
            </a:extLst>
          </p:cNvPr>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pic>
        <p:nvPicPr>
          <p:cNvPr id="4" name="Picture 3">
            <a:extLst>
              <a:ext uri="{FF2B5EF4-FFF2-40B4-BE49-F238E27FC236}">
                <a16:creationId xmlns:a16="http://schemas.microsoft.com/office/drawing/2014/main" id="{8FDB564B-9078-0C88-A7AE-E40A3AF35BE3}"/>
              </a:ext>
            </a:extLst>
          </p:cNvPr>
          <p:cNvPicPr>
            <a:picLocks noChangeAspect="1"/>
          </p:cNvPicPr>
          <p:nvPr/>
        </p:nvPicPr>
        <p:blipFill>
          <a:blip r:embed="rId3"/>
          <a:stretch>
            <a:fillRect/>
          </a:stretch>
        </p:blipFill>
        <p:spPr>
          <a:xfrm>
            <a:off x="0" y="1327863"/>
            <a:ext cx="9144000" cy="4202273"/>
          </a:xfrm>
          <a:prstGeom prst="rect">
            <a:avLst/>
          </a:prstGeom>
        </p:spPr>
      </p:pic>
    </p:spTree>
    <p:extLst>
      <p:ext uri="{BB962C8B-B14F-4D97-AF65-F5344CB8AC3E}">
        <p14:creationId xmlns:p14="http://schemas.microsoft.com/office/powerpoint/2010/main" val="290324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0"/>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PROPOSED-NOVEL IDEA</a:t>
            </a:r>
          </a:p>
        </p:txBody>
      </p:sp>
      <p:sp>
        <p:nvSpPr>
          <p:cNvPr id="157" name="Google Shape;157;p10"/>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lvl="0" algn="l"/>
            <a:r>
              <a:rPr lang="en-US" dirty="0"/>
              <a:t>School of Computer Science and Engineering                                       Date: 18/12/2025                                                   Slide number:</a:t>
            </a:r>
            <a:endParaRPr dirty="0"/>
          </a:p>
        </p:txBody>
      </p:sp>
      <p:sp>
        <p:nvSpPr>
          <p:cNvPr id="2" name="Slide Number Placeholder 1"/>
          <p:cNvSpPr>
            <a:spLocks noGrp="1"/>
          </p:cNvSpPr>
          <p:nvPr>
            <p:ph type="sldNum" idx="12"/>
          </p:nvPr>
        </p:nvSpPr>
        <p:spPr>
          <a:xfrm>
            <a:off x="6553200" y="6442841"/>
            <a:ext cx="2133600" cy="278634"/>
          </a:xfrm>
        </p:spPr>
        <p:txBody>
          <a:bodyPr/>
          <a:lstStyle/>
          <a:p>
            <a:pPr marL="0" lvl="0" indent="0" algn="r" rtl="0">
              <a:spcBef>
                <a:spcPts val="0"/>
              </a:spcBef>
              <a:spcAft>
                <a:spcPts val="0"/>
              </a:spcAft>
              <a:buNone/>
            </a:pPr>
            <a:fld id="{00000000-1234-1234-1234-123412341234}" type="slidenum">
              <a:rPr lang="en-US" smtClean="0"/>
              <a:t>10</a:t>
            </a:fld>
            <a:endParaRPr lang="en-US" dirty="0"/>
          </a:p>
        </p:txBody>
      </p:sp>
      <p:cxnSp>
        <p:nvCxnSpPr>
          <p:cNvPr id="6" name="Straight Connector 5"/>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sp>
        <p:nvSpPr>
          <p:cNvPr id="9" name="Rectangle 4">
            <a:extLst>
              <a:ext uri="{FF2B5EF4-FFF2-40B4-BE49-F238E27FC236}">
                <a16:creationId xmlns:a16="http://schemas.microsoft.com/office/drawing/2014/main" id="{8ADF9E4A-C744-5AFF-77D0-CE660689F689}"/>
              </a:ext>
            </a:extLst>
          </p:cNvPr>
          <p:cNvSpPr>
            <a:spLocks noChangeArrowheads="1"/>
          </p:cNvSpPr>
          <p:nvPr/>
        </p:nvSpPr>
        <p:spPr bwMode="auto">
          <a:xfrm>
            <a:off x="524657" y="1361715"/>
            <a:ext cx="792230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buClrTx/>
            </a:pPr>
            <a:r>
              <a:rPr kumimoji="0" lang="en-US" altLang="en-US" sz="1800" b="1" i="0" u="none" strike="noStrike" cap="none" normalizeH="0" baseline="0" dirty="0">
                <a:ln>
                  <a:noFill/>
                </a:ln>
                <a:solidFill>
                  <a:schemeClr val="tx1"/>
                </a:solidFill>
                <a:effectLst/>
                <a:latin typeface="Arial" panose="020B0604020202020204" pitchFamily="34" charset="0"/>
              </a:rPr>
              <a:t>Object-Oriented Design:</a:t>
            </a:r>
            <a:r>
              <a:rPr kumimoji="0" lang="en-US" altLang="en-US" sz="1800" b="0" i="0" u="none" strike="noStrike" cap="none" normalizeH="0" baseline="0" dirty="0">
                <a:ln>
                  <a:noFill/>
                </a:ln>
                <a:solidFill>
                  <a:schemeClr val="tx1"/>
                </a:solidFill>
                <a:effectLst/>
                <a:latin typeface="Arial" panose="020B0604020202020204" pitchFamily="34" charset="0"/>
              </a:rPr>
              <a:t> The system is built using Java’s Object-Oriented principles (classes for Passengers, flights, tickets) </a:t>
            </a:r>
            <a:r>
              <a:rPr lang="en-US" sz="1800" dirty="0"/>
              <a:t>making the code modular, scalable, and easy to maintain or expand in the future.</a:t>
            </a:r>
          </a:p>
          <a:p>
            <a:pPr lvl="0" algn="just" eaLnBrk="0" fontAlgn="base" hangingPunct="0">
              <a:spcBef>
                <a:spcPct val="0"/>
              </a:spcBef>
              <a:spcAft>
                <a:spcPct val="0"/>
              </a:spcAft>
              <a:buClrTx/>
            </a:pPr>
            <a:endParaRPr lang="en-US" sz="1800" dirty="0"/>
          </a:p>
          <a:p>
            <a:pPr lvl="0" algn="just" eaLnBrk="0" fontAlgn="base" hangingPunct="0">
              <a:spcBef>
                <a:spcPct val="0"/>
              </a:spcBef>
              <a:spcAft>
                <a:spcPct val="0"/>
              </a:spcAft>
              <a:buClrTx/>
            </a:pPr>
            <a:r>
              <a:rPr kumimoji="0" lang="en-US" altLang="en-US" sz="1800" b="1" i="0" u="none" strike="noStrike" cap="none" normalizeH="0" baseline="0" dirty="0">
                <a:ln>
                  <a:noFill/>
                </a:ln>
                <a:solidFill>
                  <a:schemeClr val="tx1"/>
                </a:solidFill>
                <a:effectLst/>
                <a:latin typeface="Arial" panose="020B0604020202020204" pitchFamily="34" charset="0"/>
              </a:rPr>
              <a:t>Automated Validation Logic:</a:t>
            </a:r>
            <a:r>
              <a:rPr kumimoji="0" lang="en-US" altLang="en-US" sz="1800" b="0" i="0" u="none" strike="noStrike" cap="none" normalizeH="0" baseline="0" dirty="0">
                <a:ln>
                  <a:noFill/>
                </a:ln>
                <a:solidFill>
                  <a:schemeClr val="tx1"/>
                </a:solidFill>
                <a:effectLst/>
                <a:latin typeface="Arial" panose="020B0604020202020204" pitchFamily="34" charset="0"/>
              </a:rPr>
              <a:t> Unlike manual systems, the proposed model implements automated logic to check seat availability in real-time before confirming any booking, effectively preventing overbooking errors.</a:t>
            </a:r>
          </a:p>
          <a:p>
            <a:pPr lvl="0" algn="just" eaLnBrk="0" fontAlgn="base" hangingPunct="0">
              <a:spcBef>
                <a:spcPct val="0"/>
              </a:spcBef>
              <a:spcAft>
                <a:spcPct val="0"/>
              </a:spcAft>
              <a:buClr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Dynamic Fare Computation:</a:t>
            </a:r>
            <a:r>
              <a:rPr kumimoji="0" lang="en-US" altLang="en-US" sz="1800" b="0" i="0" u="none" strike="noStrike" cap="none" normalizeH="0" baseline="0" dirty="0">
                <a:ln>
                  <a:noFill/>
                </a:ln>
                <a:solidFill>
                  <a:schemeClr val="tx1"/>
                </a:solidFill>
                <a:effectLst/>
                <a:latin typeface="Arial" panose="020B0604020202020204" pitchFamily="34" charset="0"/>
              </a:rPr>
              <a:t> The model includes a predefined fare structure linked to seat classes (Economy, Business, etc.), allowing the system to automatically calculate and assign the correct ticket price without human intervention.</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Secure Data Connectivity:</a:t>
            </a:r>
            <a:r>
              <a:rPr kumimoji="0" lang="en-US" altLang="en-US" sz="1800" b="0" i="0" u="none" strike="noStrike" cap="none" normalizeH="0" baseline="0" dirty="0">
                <a:ln>
                  <a:noFill/>
                </a:ln>
                <a:solidFill>
                  <a:schemeClr val="tx1"/>
                </a:solidFill>
                <a:effectLst/>
                <a:latin typeface="Arial" panose="020B0604020202020204" pitchFamily="34" charset="0"/>
              </a:rPr>
              <a:t> The system employs JDBC (Java Database Connectivity) to establish a secure and reliable communication channel between the user interface and the backend database for all operations.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PROPOSED-MODULES</a:t>
            </a:r>
          </a:p>
        </p:txBody>
      </p:sp>
      <p:sp>
        <p:nvSpPr>
          <p:cNvPr id="164" name="Google Shape;164;p11"/>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lvl="0" algn="l"/>
            <a:r>
              <a:rPr lang="en-US" dirty="0"/>
              <a:t>School of Computer Science and Engineering                                       Date: 18/12/2025                                                   Slide number:</a:t>
            </a:r>
            <a:endParaRPr dirty="0"/>
          </a:p>
        </p:txBody>
      </p:sp>
      <p:sp>
        <p:nvSpPr>
          <p:cNvPr id="2" name="Slide Number Placeholder 1"/>
          <p:cNvSpPr>
            <a:spLocks noGrp="1"/>
          </p:cNvSpPr>
          <p:nvPr>
            <p:ph type="sldNum" idx="12"/>
          </p:nvPr>
        </p:nvSpPr>
        <p:spPr>
          <a:xfrm>
            <a:off x="6553200" y="6442841"/>
            <a:ext cx="2133600" cy="278634"/>
          </a:xfrm>
        </p:spPr>
        <p:txBody>
          <a:bodyPr/>
          <a:lstStyle/>
          <a:p>
            <a:pPr marL="0" lvl="0" indent="0" algn="r" rtl="0">
              <a:spcBef>
                <a:spcPts val="0"/>
              </a:spcBef>
              <a:spcAft>
                <a:spcPts val="0"/>
              </a:spcAft>
              <a:buNone/>
            </a:pPr>
            <a:fld id="{00000000-1234-1234-1234-123412341234}" type="slidenum">
              <a:rPr lang="en-US" smtClean="0"/>
              <a:t>11</a:t>
            </a:fld>
            <a:endParaRPr lang="en-US" dirty="0"/>
          </a:p>
        </p:txBody>
      </p:sp>
      <p:cxnSp>
        <p:nvCxnSpPr>
          <p:cNvPr id="6" name="Straight Connector 5"/>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6C7D6611-2B6B-7EAE-797F-46C605F68A71}"/>
              </a:ext>
            </a:extLst>
          </p:cNvPr>
          <p:cNvSpPr/>
          <p:nvPr/>
        </p:nvSpPr>
        <p:spPr>
          <a:xfrm>
            <a:off x="2465882" y="2222718"/>
            <a:ext cx="4212236" cy="257830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1">
            <a:extLst>
              <a:ext uri="{FF2B5EF4-FFF2-40B4-BE49-F238E27FC236}">
                <a16:creationId xmlns:a16="http://schemas.microsoft.com/office/drawing/2014/main" id="{203B566A-BE4D-3536-DDA0-D2C4E7E758EE}"/>
              </a:ext>
            </a:extLst>
          </p:cNvPr>
          <p:cNvSpPr>
            <a:spLocks noGrp="1" noChangeArrowheads="1"/>
          </p:cNvSpPr>
          <p:nvPr>
            <p:ph type="body" idx="1"/>
          </p:nvPr>
        </p:nvSpPr>
        <p:spPr bwMode="auto">
          <a:xfrm>
            <a:off x="2465882" y="2219207"/>
            <a:ext cx="4212236" cy="2577828"/>
          </a:xfrm>
          <a:prstGeom prst="rect">
            <a:avLst/>
          </a:prstGeom>
          <a:solidFill>
            <a:schemeClr val="accent1">
              <a:lumMod val="40000"/>
              <a:lumOff val="60000"/>
            </a:schemeClr>
          </a:solidFill>
          <a:ln>
            <a:solidFill>
              <a:schemeClr val="bg1"/>
            </a:solidFill>
          </a:ln>
          <a:effectLst/>
        </p:spPr>
        <p:txBody>
          <a:bodyPr vert="horz" wrap="square" lIns="91440" tIns="45720" rIns="91440" bIns="45720" numCol="1" anchor="ctr" anchorCtr="0" compatLnSpc="1">
            <a:prstTxWarp prst="textNoShape">
              <a:avLst/>
            </a:prstTxWarp>
            <a:spAutoFit/>
          </a:bodyPr>
          <a:lstStyle/>
          <a:p>
            <a:pPr marL="0" lvl="0" indent="0" algn="ctr" eaLnBrk="0" fontAlgn="base" hangingPunct="0">
              <a:lnSpc>
                <a:spcPct val="150000"/>
              </a:lnSpc>
              <a:spcBef>
                <a:spcPct val="0"/>
              </a:spcBef>
              <a:spcAft>
                <a:spcPct val="0"/>
              </a:spcAft>
              <a:buClrTx/>
              <a:buSzTx/>
              <a:buNone/>
            </a:pPr>
            <a:r>
              <a:rPr lang="en-US" altLang="en-US" sz="1800" b="1" dirty="0">
                <a:solidFill>
                  <a:schemeClr val="tx1"/>
                </a:solidFill>
                <a:latin typeface="Arial" panose="020B0604020202020204" pitchFamily="34" charset="0"/>
              </a:rPr>
              <a:t>Ticket Reservation Module</a:t>
            </a:r>
            <a:endParaRPr lang="en-US" altLang="en-US" sz="1800" dirty="0">
              <a:solidFill>
                <a:schemeClr val="tx1"/>
              </a:solidFill>
              <a:latin typeface="Arial" panose="020B0604020202020204" pitchFamily="34" charset="0"/>
            </a:endParaRPr>
          </a:p>
          <a:p>
            <a:pPr marL="0" lvl="0" indent="0" algn="ctr" eaLnBrk="0" fontAlgn="base" hangingPunct="0">
              <a:lnSpc>
                <a:spcPct val="150000"/>
              </a:lnSpc>
              <a:spcBef>
                <a:spcPct val="0"/>
              </a:spcBef>
              <a:spcAft>
                <a:spcPct val="0"/>
              </a:spcAft>
              <a:buClrTx/>
              <a:buSzTx/>
              <a:buNone/>
            </a:pPr>
            <a:r>
              <a:rPr lang="en-US" altLang="en-US" sz="1800" b="1" dirty="0">
                <a:solidFill>
                  <a:schemeClr val="tx1"/>
                </a:solidFill>
                <a:latin typeface="Arial" panose="020B0604020202020204" pitchFamily="34" charset="0"/>
              </a:rPr>
              <a:t>Cancellation Management Module</a:t>
            </a:r>
            <a:endParaRPr lang="en-US" altLang="en-US" sz="1800" dirty="0">
              <a:solidFill>
                <a:schemeClr val="tx1"/>
              </a:solidFill>
              <a:latin typeface="Arial" panose="020B0604020202020204" pitchFamily="34" charset="0"/>
            </a:endParaRPr>
          </a:p>
          <a:p>
            <a:pPr marL="0" lvl="0" indent="0" algn="ctr" eaLnBrk="0" fontAlgn="base" hangingPunct="0">
              <a:lnSpc>
                <a:spcPct val="150000"/>
              </a:lnSpc>
              <a:spcBef>
                <a:spcPct val="0"/>
              </a:spcBef>
              <a:spcAft>
                <a:spcPct val="0"/>
              </a:spcAft>
              <a:buClrTx/>
              <a:buSzTx/>
              <a:buNone/>
            </a:pPr>
            <a:r>
              <a:rPr lang="en-US" altLang="en-US" sz="1800" b="1" dirty="0">
                <a:solidFill>
                  <a:schemeClr val="tx1"/>
                </a:solidFill>
                <a:latin typeface="Arial" panose="020B0604020202020204" pitchFamily="34" charset="0"/>
              </a:rPr>
              <a:t>Passenger Enquiry Module</a:t>
            </a:r>
            <a:endParaRPr lang="en-US" altLang="en-US" sz="1800" dirty="0">
              <a:solidFill>
                <a:schemeClr val="tx1"/>
              </a:solidFill>
              <a:latin typeface="Arial" panose="020B0604020202020204" pitchFamily="34" charset="0"/>
            </a:endParaRPr>
          </a:p>
          <a:p>
            <a:pPr marL="0" lvl="0" indent="0" algn="ctr" eaLnBrk="0" fontAlgn="base" hangingPunct="0">
              <a:lnSpc>
                <a:spcPct val="150000"/>
              </a:lnSpc>
              <a:spcBef>
                <a:spcPct val="0"/>
              </a:spcBef>
              <a:spcAft>
                <a:spcPct val="0"/>
              </a:spcAft>
              <a:buClrTx/>
              <a:buSzTx/>
              <a:buNone/>
            </a:pPr>
            <a:r>
              <a:rPr lang="en-US" altLang="en-US" sz="1800" b="1" dirty="0">
                <a:solidFill>
                  <a:schemeClr val="tx1"/>
                </a:solidFill>
                <a:latin typeface="Arial" panose="020B0604020202020204" pitchFamily="34" charset="0"/>
              </a:rPr>
              <a:t>Seat Inventory Management Module</a:t>
            </a:r>
            <a:endParaRPr lang="en-US" altLang="en-US" sz="1800" dirty="0">
              <a:solidFill>
                <a:schemeClr val="tx1"/>
              </a:solidFill>
              <a:latin typeface="Arial" panose="020B0604020202020204" pitchFamily="34" charset="0"/>
            </a:endParaRPr>
          </a:p>
          <a:p>
            <a:pPr marL="0" lvl="0" indent="0" algn="ctr" eaLnBrk="0" fontAlgn="base" hangingPunct="0">
              <a:lnSpc>
                <a:spcPct val="150000"/>
              </a:lnSpc>
              <a:spcBef>
                <a:spcPct val="0"/>
              </a:spcBef>
              <a:spcAft>
                <a:spcPct val="0"/>
              </a:spcAft>
              <a:buClrTx/>
              <a:buSzTx/>
              <a:buNone/>
            </a:pPr>
            <a:r>
              <a:rPr lang="en-US" altLang="en-US" sz="1800" b="1" dirty="0">
                <a:solidFill>
                  <a:schemeClr val="tx1"/>
                </a:solidFill>
                <a:latin typeface="Arial" panose="020B0604020202020204" pitchFamily="34" charset="0"/>
              </a:rPr>
              <a:t>Revenue Reporting Module</a:t>
            </a:r>
            <a:endParaRPr lang="en-US" altLang="en-US" sz="1800" dirty="0">
              <a:solidFill>
                <a:schemeClr val="tx1"/>
              </a:solidFill>
              <a:latin typeface="Arial" panose="020B0604020202020204" pitchFamily="34" charset="0"/>
            </a:endParaRPr>
          </a:p>
          <a:p>
            <a:pPr marL="0" lvl="0" indent="0" algn="ctr" eaLnBrk="0" fontAlgn="base" hangingPunct="0">
              <a:lnSpc>
                <a:spcPct val="150000"/>
              </a:lnSpc>
              <a:spcBef>
                <a:spcPct val="0"/>
              </a:spcBef>
              <a:spcAft>
                <a:spcPct val="0"/>
              </a:spcAft>
              <a:buClrTx/>
              <a:buSzTx/>
              <a:buNone/>
            </a:pPr>
            <a:r>
              <a:rPr lang="en-US" altLang="en-US" sz="1800" b="1" dirty="0">
                <a:solidFill>
                  <a:schemeClr val="tx1"/>
                </a:solidFill>
                <a:latin typeface="Arial" panose="020B0604020202020204" pitchFamily="34" charset="0"/>
              </a:rPr>
              <a:t>Database Connection Module</a:t>
            </a:r>
            <a:endParaRPr lang="en-US" altLang="en-US" sz="1800" dirty="0">
              <a:solidFill>
                <a:schemeClr val="tx1"/>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3"/>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MODULE OUTPUT </a:t>
            </a:r>
          </a:p>
        </p:txBody>
      </p:sp>
      <p:sp>
        <p:nvSpPr>
          <p:cNvPr id="178" name="Google Shape;178;p13"/>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lvl="0" algn="l"/>
            <a:r>
              <a:rPr lang="en-US" dirty="0"/>
              <a:t>School of Computer Science and Engineering                                       Date: 18/12/2025                                                   Slide number:</a:t>
            </a:r>
            <a:endParaRPr dirty="0"/>
          </a:p>
        </p:txBody>
      </p:sp>
      <p:sp>
        <p:nvSpPr>
          <p:cNvPr id="2" name="Slide Number Placeholder 1"/>
          <p:cNvSpPr>
            <a:spLocks noGrp="1"/>
          </p:cNvSpPr>
          <p:nvPr>
            <p:ph type="sldNum" idx="12"/>
          </p:nvPr>
        </p:nvSpPr>
        <p:spPr>
          <a:xfrm>
            <a:off x="6553200" y="6383856"/>
            <a:ext cx="2133600" cy="337619"/>
          </a:xfrm>
        </p:spPr>
        <p:txBody>
          <a:bodyPr/>
          <a:lstStyle/>
          <a:p>
            <a:pPr marL="0" lvl="0" indent="0" algn="r" rtl="0">
              <a:spcBef>
                <a:spcPts val="0"/>
              </a:spcBef>
              <a:spcAft>
                <a:spcPts val="0"/>
              </a:spcAft>
              <a:buNone/>
            </a:pPr>
            <a:fld id="{00000000-1234-1234-1234-123412341234}" type="slidenum">
              <a:rPr lang="en-US" smtClean="0"/>
              <a:t>12</a:t>
            </a:fld>
            <a:endParaRPr lang="en-US" dirty="0"/>
          </a:p>
        </p:txBody>
      </p:sp>
      <p:cxnSp>
        <p:nvCxnSpPr>
          <p:cNvPr id="6" name="Straight Connector 5"/>
          <p:cNvCxnSpPr/>
          <p:nvPr/>
        </p:nvCxnSpPr>
        <p:spPr>
          <a:xfrm flipV="1">
            <a:off x="0" y="971838"/>
            <a:ext cx="9144000" cy="69273"/>
          </a:xfrm>
          <a:prstGeom prst="line">
            <a:avLst/>
          </a:prstGeom>
          <a:ln/>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0C510536-16F4-602A-9926-390060BAD796}"/>
              </a:ext>
            </a:extLst>
          </p:cNvPr>
          <p:cNvPicPr>
            <a:picLocks noChangeAspect="1"/>
          </p:cNvPicPr>
          <p:nvPr/>
        </p:nvPicPr>
        <p:blipFill>
          <a:blip r:embed="rId3"/>
          <a:stretch>
            <a:fillRect/>
          </a:stretch>
        </p:blipFill>
        <p:spPr>
          <a:xfrm>
            <a:off x="3290341" y="2804939"/>
            <a:ext cx="1946084" cy="1638989"/>
          </a:xfrm>
          <a:prstGeom prst="rect">
            <a:avLst/>
          </a:prstGeom>
        </p:spPr>
      </p:pic>
      <p:pic>
        <p:nvPicPr>
          <p:cNvPr id="10" name="Picture 9">
            <a:extLst>
              <a:ext uri="{FF2B5EF4-FFF2-40B4-BE49-F238E27FC236}">
                <a16:creationId xmlns:a16="http://schemas.microsoft.com/office/drawing/2014/main" id="{9933F715-85DF-B146-8D48-472962EF75D0}"/>
              </a:ext>
            </a:extLst>
          </p:cNvPr>
          <p:cNvPicPr>
            <a:picLocks noChangeAspect="1"/>
          </p:cNvPicPr>
          <p:nvPr/>
        </p:nvPicPr>
        <p:blipFill>
          <a:blip r:embed="rId4"/>
          <a:stretch>
            <a:fillRect/>
          </a:stretch>
        </p:blipFill>
        <p:spPr>
          <a:xfrm>
            <a:off x="554636" y="4475218"/>
            <a:ext cx="4681789" cy="1586329"/>
          </a:xfrm>
          <a:prstGeom prst="rect">
            <a:avLst/>
          </a:prstGeom>
        </p:spPr>
      </p:pic>
      <p:pic>
        <p:nvPicPr>
          <p:cNvPr id="13" name="Picture 12">
            <a:extLst>
              <a:ext uri="{FF2B5EF4-FFF2-40B4-BE49-F238E27FC236}">
                <a16:creationId xmlns:a16="http://schemas.microsoft.com/office/drawing/2014/main" id="{15697CCE-8876-0AD1-3E96-8D000997CCDF}"/>
              </a:ext>
            </a:extLst>
          </p:cNvPr>
          <p:cNvPicPr>
            <a:picLocks noChangeAspect="1"/>
          </p:cNvPicPr>
          <p:nvPr/>
        </p:nvPicPr>
        <p:blipFill>
          <a:blip r:embed="rId5"/>
          <a:stretch>
            <a:fillRect/>
          </a:stretch>
        </p:blipFill>
        <p:spPr>
          <a:xfrm>
            <a:off x="5415766" y="1199214"/>
            <a:ext cx="3466710" cy="4863526"/>
          </a:xfrm>
          <a:prstGeom prst="rect">
            <a:avLst/>
          </a:prstGeom>
        </p:spPr>
      </p:pic>
      <p:pic>
        <p:nvPicPr>
          <p:cNvPr id="15" name="Picture 14">
            <a:extLst>
              <a:ext uri="{FF2B5EF4-FFF2-40B4-BE49-F238E27FC236}">
                <a16:creationId xmlns:a16="http://schemas.microsoft.com/office/drawing/2014/main" id="{B2AC6730-E315-2A6D-892C-A6CAD59BF1CC}"/>
              </a:ext>
            </a:extLst>
          </p:cNvPr>
          <p:cNvPicPr>
            <a:picLocks noChangeAspect="1"/>
          </p:cNvPicPr>
          <p:nvPr/>
        </p:nvPicPr>
        <p:blipFill>
          <a:blip r:embed="rId6"/>
          <a:stretch>
            <a:fillRect/>
          </a:stretch>
        </p:blipFill>
        <p:spPr>
          <a:xfrm>
            <a:off x="554636" y="1188512"/>
            <a:ext cx="4681789" cy="1585138"/>
          </a:xfrm>
          <a:prstGeom prst="rect">
            <a:avLst/>
          </a:prstGeom>
        </p:spPr>
      </p:pic>
      <p:pic>
        <p:nvPicPr>
          <p:cNvPr id="17" name="Picture 16">
            <a:extLst>
              <a:ext uri="{FF2B5EF4-FFF2-40B4-BE49-F238E27FC236}">
                <a16:creationId xmlns:a16="http://schemas.microsoft.com/office/drawing/2014/main" id="{A000DB69-06CA-C5B2-8B4B-6B40FF8D2111}"/>
              </a:ext>
            </a:extLst>
          </p:cNvPr>
          <p:cNvPicPr>
            <a:picLocks noChangeAspect="1"/>
          </p:cNvPicPr>
          <p:nvPr/>
        </p:nvPicPr>
        <p:blipFill>
          <a:blip r:embed="rId7"/>
          <a:stretch>
            <a:fillRect/>
          </a:stretch>
        </p:blipFill>
        <p:spPr>
          <a:xfrm>
            <a:off x="554635" y="2830455"/>
            <a:ext cx="2646035" cy="16134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9597572F-1926-F6BA-639D-57802723F912}"/>
            </a:ext>
          </a:extLst>
        </p:cNvPr>
        <p:cNvGrpSpPr/>
        <p:nvPr/>
      </p:nvGrpSpPr>
      <p:grpSpPr>
        <a:xfrm>
          <a:off x="0" y="0"/>
          <a:ext cx="0" cy="0"/>
          <a:chOff x="0" y="0"/>
          <a:chExt cx="0" cy="0"/>
        </a:xfrm>
      </p:grpSpPr>
      <p:sp>
        <p:nvSpPr>
          <p:cNvPr id="176" name="Google Shape;176;p13">
            <a:extLst>
              <a:ext uri="{FF2B5EF4-FFF2-40B4-BE49-F238E27FC236}">
                <a16:creationId xmlns:a16="http://schemas.microsoft.com/office/drawing/2014/main" id="{CBCCF8B0-BEE4-CEEA-71A5-F836BC5FA8F8}"/>
              </a:ext>
            </a:extLst>
          </p:cNvPr>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MODULE OUTPUT </a:t>
            </a:r>
          </a:p>
        </p:txBody>
      </p:sp>
      <p:sp>
        <p:nvSpPr>
          <p:cNvPr id="178" name="Google Shape;178;p13">
            <a:extLst>
              <a:ext uri="{FF2B5EF4-FFF2-40B4-BE49-F238E27FC236}">
                <a16:creationId xmlns:a16="http://schemas.microsoft.com/office/drawing/2014/main" id="{9019BB60-3452-D0E7-8D15-1DF96D99F131}"/>
              </a:ext>
            </a:extLst>
          </p:cNvPr>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lvl="0" algn="l"/>
            <a:r>
              <a:rPr lang="en-US" dirty="0"/>
              <a:t>School of Computer Science and Engineering                                       Date: 18/12/2025                                                   Slide number:</a:t>
            </a:r>
            <a:endParaRPr dirty="0"/>
          </a:p>
        </p:txBody>
      </p:sp>
      <p:sp>
        <p:nvSpPr>
          <p:cNvPr id="2" name="Slide Number Placeholder 1">
            <a:extLst>
              <a:ext uri="{FF2B5EF4-FFF2-40B4-BE49-F238E27FC236}">
                <a16:creationId xmlns:a16="http://schemas.microsoft.com/office/drawing/2014/main" id="{A4ECF712-5F9E-19D2-5E8C-11D1D21E91E7}"/>
              </a:ext>
            </a:extLst>
          </p:cNvPr>
          <p:cNvSpPr>
            <a:spLocks noGrp="1"/>
          </p:cNvSpPr>
          <p:nvPr>
            <p:ph type="sldNum" idx="12"/>
          </p:nvPr>
        </p:nvSpPr>
        <p:spPr>
          <a:xfrm>
            <a:off x="6553200" y="6383856"/>
            <a:ext cx="2133600" cy="337619"/>
          </a:xfrm>
        </p:spPr>
        <p:txBody>
          <a:bodyPr/>
          <a:lstStyle/>
          <a:p>
            <a:pPr marL="0" lvl="0" indent="0" algn="r" rtl="0">
              <a:spcBef>
                <a:spcPts val="0"/>
              </a:spcBef>
              <a:spcAft>
                <a:spcPts val="0"/>
              </a:spcAft>
              <a:buNone/>
            </a:pPr>
            <a:fld id="{00000000-1234-1234-1234-123412341234}" type="slidenum">
              <a:rPr lang="en-US" smtClean="0"/>
              <a:t>13</a:t>
            </a:fld>
            <a:endParaRPr lang="en-US" dirty="0"/>
          </a:p>
        </p:txBody>
      </p:sp>
      <p:cxnSp>
        <p:nvCxnSpPr>
          <p:cNvPr id="6" name="Straight Connector 5">
            <a:extLst>
              <a:ext uri="{FF2B5EF4-FFF2-40B4-BE49-F238E27FC236}">
                <a16:creationId xmlns:a16="http://schemas.microsoft.com/office/drawing/2014/main" id="{2D7EA064-2E7B-57CA-4D19-F0A1FD81C35D}"/>
              </a:ext>
            </a:extLst>
          </p:cNvPr>
          <p:cNvCxnSpPr/>
          <p:nvPr/>
        </p:nvCxnSpPr>
        <p:spPr>
          <a:xfrm flipV="1">
            <a:off x="0" y="971838"/>
            <a:ext cx="9144000" cy="69273"/>
          </a:xfrm>
          <a:prstGeom prst="line">
            <a:avLst/>
          </a:prstGeom>
          <a:ln/>
        </p:spPr>
        <p:style>
          <a:lnRef idx="1">
            <a:schemeClr val="dk1"/>
          </a:lnRef>
          <a:fillRef idx="0">
            <a:schemeClr val="dk1"/>
          </a:fillRef>
          <a:effectRef idx="0">
            <a:schemeClr val="dk1"/>
          </a:effectRef>
          <a:fontRef idx="minor">
            <a:schemeClr val="tx1"/>
          </a:fontRef>
        </p:style>
      </p:cxnSp>
      <p:pic>
        <p:nvPicPr>
          <p:cNvPr id="4" name="Picture 3">
            <a:extLst>
              <a:ext uri="{FF2B5EF4-FFF2-40B4-BE49-F238E27FC236}">
                <a16:creationId xmlns:a16="http://schemas.microsoft.com/office/drawing/2014/main" id="{179A6A64-5047-86E2-ACAA-D04351433234}"/>
              </a:ext>
            </a:extLst>
          </p:cNvPr>
          <p:cNvPicPr>
            <a:picLocks noChangeAspect="1"/>
          </p:cNvPicPr>
          <p:nvPr/>
        </p:nvPicPr>
        <p:blipFill>
          <a:blip r:embed="rId3"/>
          <a:stretch>
            <a:fillRect/>
          </a:stretch>
        </p:blipFill>
        <p:spPr>
          <a:xfrm>
            <a:off x="2174082" y="1363537"/>
            <a:ext cx="4795836" cy="2065463"/>
          </a:xfrm>
          <a:prstGeom prst="rect">
            <a:avLst/>
          </a:prstGeom>
        </p:spPr>
      </p:pic>
      <p:pic>
        <p:nvPicPr>
          <p:cNvPr id="13" name="Picture 12">
            <a:extLst>
              <a:ext uri="{FF2B5EF4-FFF2-40B4-BE49-F238E27FC236}">
                <a16:creationId xmlns:a16="http://schemas.microsoft.com/office/drawing/2014/main" id="{87D1FA0F-1100-8B8F-9F12-A0EC05AC5D7D}"/>
              </a:ext>
            </a:extLst>
          </p:cNvPr>
          <p:cNvPicPr>
            <a:picLocks noChangeAspect="1"/>
          </p:cNvPicPr>
          <p:nvPr/>
        </p:nvPicPr>
        <p:blipFill>
          <a:blip r:embed="rId4"/>
          <a:stretch>
            <a:fillRect/>
          </a:stretch>
        </p:blipFill>
        <p:spPr>
          <a:xfrm>
            <a:off x="2174082" y="4101806"/>
            <a:ext cx="4795836" cy="1536994"/>
          </a:xfrm>
          <a:prstGeom prst="rect">
            <a:avLst/>
          </a:prstGeom>
        </p:spPr>
      </p:pic>
    </p:spTree>
    <p:extLst>
      <p:ext uri="{BB962C8B-B14F-4D97-AF65-F5344CB8AC3E}">
        <p14:creationId xmlns:p14="http://schemas.microsoft.com/office/powerpoint/2010/main" val="2286966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RESULTS AND DISCUSSIONS</a:t>
            </a:r>
            <a:endParaRPr lang="en-IN" dirty="0"/>
          </a:p>
        </p:txBody>
      </p:sp>
      <p:sp>
        <p:nvSpPr>
          <p:cNvPr id="3" name="Text Placeholder 2"/>
          <p:cNvSpPr>
            <a:spLocks noGrp="1"/>
          </p:cNvSpPr>
          <p:nvPr>
            <p:ph type="body" idx="1"/>
          </p:nvPr>
        </p:nvSpPr>
        <p:spPr/>
        <p:txBody>
          <a:bodyPr>
            <a:normAutofit/>
          </a:bodyPr>
          <a:lstStyle/>
          <a:p>
            <a:pPr algn="ctr" eaLnBrk="1" fontAlgn="ctr" latinLnBrk="0" hangingPunct="1">
              <a:buNone/>
            </a:pPr>
            <a:r>
              <a:rPr lang="en-US" sz="1800" b="1" dirty="0">
                <a:solidFill>
                  <a:srgbClr val="FFFFFF"/>
                </a:solidFill>
                <a:effectLst/>
                <a:latin typeface="Times New Roman" panose="02020603050405020304" pitchFamily="18" charset="0"/>
              </a:rPr>
              <a:t>Metric</a:t>
            </a:r>
            <a:endParaRPr lang="en-US" dirty="0">
              <a:effectLst/>
            </a:endParaRPr>
          </a:p>
          <a:p>
            <a:pPr algn="ctr" eaLnBrk="1" fontAlgn="ctr" latinLnBrk="0" hangingPunct="1">
              <a:buNone/>
            </a:pPr>
            <a:r>
              <a:rPr lang="en-US" sz="1800" b="1" dirty="0">
                <a:solidFill>
                  <a:srgbClr val="FFFFFF"/>
                </a:solidFill>
                <a:effectLst/>
                <a:latin typeface="Times New Roman" panose="02020603050405020304" pitchFamily="18" charset="0"/>
              </a:rPr>
              <a:t>Manual System</a:t>
            </a:r>
            <a:endParaRPr lang="en-US" dirty="0">
              <a:effectLst/>
            </a:endParaRPr>
          </a:p>
          <a:p>
            <a:pPr algn="ctr" eaLnBrk="1" fontAlgn="ctr" latinLnBrk="0" hangingPunct="1">
              <a:buNone/>
            </a:pPr>
            <a:r>
              <a:rPr lang="en-US" sz="1800" b="1" dirty="0">
                <a:solidFill>
                  <a:srgbClr val="FFFFFF"/>
                </a:solidFill>
                <a:effectLst/>
                <a:latin typeface="Times New Roman" panose="02020603050405020304" pitchFamily="18" charset="0"/>
              </a:rPr>
              <a:t>Proposed System</a:t>
            </a:r>
            <a:endParaRPr lang="en-US" dirty="0">
              <a:effectLst/>
            </a:endParaRPr>
          </a:p>
          <a:p>
            <a:pPr algn="ctr" eaLnBrk="1" fontAlgn="ctr" latinLnBrk="0" hangingPunct="1">
              <a:buNone/>
            </a:pPr>
            <a:endParaRPr lang="en-US" dirty="0">
              <a:effectLst/>
            </a:endParaRPr>
          </a:p>
        </p:txBody>
      </p:sp>
      <p:sp>
        <p:nvSpPr>
          <p:cNvPr id="4" name="Footer Placeholder 3"/>
          <p:cNvSpPr>
            <a:spLocks noGrp="1"/>
          </p:cNvSpPr>
          <p:nvPr>
            <p:ph type="ftr" idx="11"/>
          </p:nvPr>
        </p:nvSpPr>
        <p:spPr>
          <a:xfrm>
            <a:off x="199697" y="6356350"/>
            <a:ext cx="8860220" cy="365125"/>
          </a:xfrm>
        </p:spPr>
        <p:txBody>
          <a:bodyPr/>
          <a:lstStyle/>
          <a:p>
            <a:pPr algn="l"/>
            <a:r>
              <a:rPr lang="en-US" dirty="0"/>
              <a:t>School of Computer Science and Engineering                                       Date: 18/12/2025                                                               Slide number:</a:t>
            </a:r>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dirty="0"/>
          </a:p>
        </p:txBody>
      </p:sp>
      <p:cxnSp>
        <p:nvCxnSpPr>
          <p:cNvPr id="6" name="Straight Connector 5"/>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sp>
        <p:nvSpPr>
          <p:cNvPr id="12" name="Google Shape;107;p3">
            <a:extLst>
              <a:ext uri="{FF2B5EF4-FFF2-40B4-BE49-F238E27FC236}">
                <a16:creationId xmlns:a16="http://schemas.microsoft.com/office/drawing/2014/main" id="{F9629D9F-C3E7-351E-F4C0-9474772DDBDD}"/>
              </a:ext>
            </a:extLst>
          </p:cNvPr>
          <p:cNvSpPr txBox="1">
            <a:spLocks/>
          </p:cNvSpPr>
          <p:nvPr/>
        </p:nvSpPr>
        <p:spPr>
          <a:xfrm>
            <a:off x="397240" y="1370013"/>
            <a:ext cx="8229600" cy="2424547"/>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101600" indent="0" algn="just">
              <a:lnSpc>
                <a:spcPct val="115000"/>
              </a:lnSpc>
              <a:spcBef>
                <a:spcPts val="1200"/>
              </a:spcBef>
              <a:buSzPts val="2000"/>
              <a:buNone/>
            </a:pPr>
            <a:r>
              <a:rPr lang="en-US" sz="2000" dirty="0">
                <a:latin typeface="Times New Roman" panose="02020603050405020304" pitchFamily="18" charset="0"/>
                <a:ea typeface="Arial" panose="020B0604020202020204"/>
                <a:cs typeface="Times New Roman" panose="02020603050405020304" pitchFamily="18" charset="0"/>
                <a:sym typeface="Arial" panose="020B0604020202020204"/>
              </a:rPr>
              <a:t>T</a:t>
            </a:r>
            <a:r>
              <a:rPr lang="en-US" sz="2000" dirty="0">
                <a:latin typeface="Times New Roman" panose="02020603050405020304" pitchFamily="18" charset="0"/>
                <a:cs typeface="Times New Roman" panose="02020603050405020304" pitchFamily="18" charset="0"/>
              </a:rPr>
              <a:t>he Airline Reservation System was successfully implemented using Java and SQL Server, establishing secure database connectivity for persistent data storage. It automates critical tasks such as ticket booking, cancellation, and real-time inventory tracking to effectively prevent overbooking and manual errors. The final application meets all project objectives, providing a streamlined interface for efficient passenger management and accurate revenue reporting.</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180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CONCLUSION</a:t>
            </a:r>
            <a:endParaRPr lang="en-IN"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dirty="0"/>
          </a:p>
        </p:txBody>
      </p:sp>
      <p:cxnSp>
        <p:nvCxnSpPr>
          <p:cNvPr id="6" name="Straight Connector 5"/>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sp>
        <p:nvSpPr>
          <p:cNvPr id="10" name="Google Shape;107;p3">
            <a:extLst>
              <a:ext uri="{FF2B5EF4-FFF2-40B4-BE49-F238E27FC236}">
                <a16:creationId xmlns:a16="http://schemas.microsoft.com/office/drawing/2014/main" id="{93F66ABA-C83E-59C8-B98B-A96D381201C7}"/>
              </a:ext>
            </a:extLst>
          </p:cNvPr>
          <p:cNvSpPr txBox="1">
            <a:spLocks/>
          </p:cNvSpPr>
          <p:nvPr/>
        </p:nvSpPr>
        <p:spPr>
          <a:xfrm>
            <a:off x="307299" y="1342445"/>
            <a:ext cx="8229600" cy="2424547"/>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101600" indent="0" algn="just">
              <a:lnSpc>
                <a:spcPct val="115000"/>
              </a:lnSpc>
              <a:spcBef>
                <a:spcPts val="1200"/>
              </a:spcBef>
              <a:buSzPts val="2000"/>
              <a:buNone/>
            </a:pPr>
            <a:r>
              <a:rPr lang="en-US" sz="2000" dirty="0">
                <a:latin typeface="Times New Roman" panose="02020603050405020304" pitchFamily="18" charset="0"/>
                <a:cs typeface="Times New Roman" panose="02020603050405020304" pitchFamily="18" charset="0"/>
              </a:rPr>
              <a:t>The Airline Reservation System successfully automates the ticketing process by integrating Java with a MS SQL Server database, ensuring data accuracy and persistent storage. It effectively resolves the inefficiencies of manual systems by providing real-time validation for seat availability and automated fare calculations. Overall, the project demonstrates a functional application of   Object-Oriented Programming and database management concepts to solve real-world problems</a:t>
            </a:r>
            <a:endParaRPr lang="en-US" sz="2000" b="1" dirty="0">
              <a:latin typeface="Times New Roman" panose="02020603050405020304" pitchFamily="18" charset="0"/>
              <a:cs typeface="Times New Roman" panose="02020603050405020304" pitchFamily="18" charset="0"/>
            </a:endParaRPr>
          </a:p>
        </p:txBody>
      </p:sp>
      <p:sp>
        <p:nvSpPr>
          <p:cNvPr id="11" name="Footer Placeholder 3">
            <a:extLst>
              <a:ext uri="{FF2B5EF4-FFF2-40B4-BE49-F238E27FC236}">
                <a16:creationId xmlns:a16="http://schemas.microsoft.com/office/drawing/2014/main" id="{AF3AF1C4-6679-F44D-B84E-6FFE41C130A7}"/>
              </a:ext>
            </a:extLst>
          </p:cNvPr>
          <p:cNvSpPr>
            <a:spLocks noGrp="1"/>
          </p:cNvSpPr>
          <p:nvPr>
            <p:ph type="ftr" idx="11"/>
          </p:nvPr>
        </p:nvSpPr>
        <p:spPr>
          <a:xfrm>
            <a:off x="199697" y="6356350"/>
            <a:ext cx="8860220" cy="365125"/>
          </a:xfrm>
        </p:spPr>
        <p:txBody>
          <a:bodyPr/>
          <a:lstStyle/>
          <a:p>
            <a:pPr algn="l"/>
            <a:r>
              <a:rPr lang="en-US" dirty="0"/>
              <a:t>School of Computer Science and Engineering                                       Date: 18/12/2025                                                          Slide number:</a:t>
            </a:r>
          </a:p>
        </p:txBody>
      </p:sp>
    </p:spTree>
    <p:extLst>
      <p:ext uri="{BB962C8B-B14F-4D97-AF65-F5344CB8AC3E}">
        <p14:creationId xmlns:p14="http://schemas.microsoft.com/office/powerpoint/2010/main" val="2995950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FUTURE SCOPE</a:t>
            </a:r>
            <a:endParaRPr lang="en-IN" dirty="0"/>
          </a:p>
        </p:txBody>
      </p:sp>
      <p:sp>
        <p:nvSpPr>
          <p:cNvPr id="5" name="Slide Number Placeholder 4"/>
          <p:cNvSpPr>
            <a:spLocks noGrp="1"/>
          </p:cNvSpPr>
          <p:nvPr>
            <p:ph type="sldNum" idx="12"/>
          </p:nvPr>
        </p:nvSpPr>
        <p:spPr>
          <a:xfrm>
            <a:off x="6796726" y="6356350"/>
            <a:ext cx="2073897" cy="365125"/>
          </a:xfrm>
        </p:spPr>
        <p:txBody>
          <a:bodyPr/>
          <a:lstStyle/>
          <a:p>
            <a:pPr marL="0" lvl="0" indent="0" algn="r" rtl="0">
              <a:spcBef>
                <a:spcPts val="0"/>
              </a:spcBef>
              <a:spcAft>
                <a:spcPts val="0"/>
              </a:spcAft>
              <a:buNone/>
            </a:pPr>
            <a:fld id="{00000000-1234-1234-1234-123412341234}" type="slidenum">
              <a:rPr lang="en-US" smtClean="0"/>
              <a:t>16</a:t>
            </a:fld>
            <a:endParaRPr lang="en-US" dirty="0"/>
          </a:p>
        </p:txBody>
      </p:sp>
      <p:cxnSp>
        <p:nvCxnSpPr>
          <p:cNvPr id="6" name="Straight Connector 5"/>
          <p:cNvCxnSpPr/>
          <p:nvPr/>
        </p:nvCxnSpPr>
        <p:spPr>
          <a:xfrm flipV="1">
            <a:off x="0" y="1039091"/>
            <a:ext cx="9144000" cy="69273"/>
          </a:xfrm>
          <a:prstGeom prst="line">
            <a:avLst/>
          </a:prstGeom>
          <a:ln/>
        </p:spPr>
        <p:style>
          <a:lnRef idx="1">
            <a:schemeClr val="dk1"/>
          </a:lnRef>
          <a:fillRef idx="0">
            <a:schemeClr val="dk1"/>
          </a:fillRef>
          <a:effectRef idx="0">
            <a:schemeClr val="dk1"/>
          </a:effectRef>
          <a:fontRef idx="minor">
            <a:schemeClr val="tx1"/>
          </a:fontRef>
        </p:style>
      </p:cxnSp>
      <p:sp>
        <p:nvSpPr>
          <p:cNvPr id="9" name="Rectangle 2">
            <a:extLst>
              <a:ext uri="{FF2B5EF4-FFF2-40B4-BE49-F238E27FC236}">
                <a16:creationId xmlns:a16="http://schemas.microsoft.com/office/drawing/2014/main" id="{1153651A-51D6-E59A-721E-78532610606D}"/>
              </a:ext>
            </a:extLst>
          </p:cNvPr>
          <p:cNvSpPr>
            <a:spLocks noChangeArrowheads="1"/>
          </p:cNvSpPr>
          <p:nvPr/>
        </p:nvSpPr>
        <p:spPr bwMode="auto">
          <a:xfrm>
            <a:off x="592418" y="1571592"/>
            <a:ext cx="783367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GUI Implementation:</a:t>
            </a:r>
            <a:r>
              <a:rPr kumimoji="0" lang="en-US" altLang="en-US" sz="1800" b="0" i="0" u="none" strike="noStrike" cap="none" normalizeH="0" baseline="0" dirty="0">
                <a:ln>
                  <a:noFill/>
                </a:ln>
                <a:solidFill>
                  <a:schemeClr val="tx1"/>
                </a:solidFill>
                <a:effectLst/>
                <a:latin typeface="Arial" panose="020B0604020202020204" pitchFamily="34" charset="0"/>
              </a:rPr>
              <a:t> Transitioning from a console-based interface to a Graphical User Interface (GUI) or web platform to improve user experience.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Payment Gateway Integration:</a:t>
            </a:r>
            <a:r>
              <a:rPr kumimoji="0" lang="en-US" altLang="en-US" sz="1800" b="0" i="0" u="none" strike="noStrike" cap="none" normalizeH="0" baseline="0" dirty="0">
                <a:ln>
                  <a:noFill/>
                </a:ln>
                <a:solidFill>
                  <a:schemeClr val="tx1"/>
                </a:solidFill>
                <a:effectLst/>
                <a:latin typeface="Arial" panose="020B0604020202020204" pitchFamily="34" charset="0"/>
              </a:rPr>
              <a:t> Adding secure online payment processing to handle real-time transactions and instant ticket generation.</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Multi-Flight Support:</a:t>
            </a:r>
            <a:r>
              <a:rPr kumimoji="0" lang="en-US" altLang="en-US" sz="1800" b="0" i="0" u="none" strike="noStrike" cap="none" normalizeH="0" baseline="0" dirty="0">
                <a:ln>
                  <a:noFill/>
                </a:ln>
                <a:solidFill>
                  <a:schemeClr val="tx1"/>
                </a:solidFill>
                <a:effectLst/>
                <a:latin typeface="Arial" panose="020B0604020202020204" pitchFamily="34" charset="0"/>
              </a:rPr>
              <a:t> Expanding the database logic to manage schedules, routes, and inventories for multiple flights simultaneously.</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Role-Based Access:</a:t>
            </a:r>
            <a:r>
              <a:rPr kumimoji="0" lang="en-US" altLang="en-US" sz="1800" b="0" i="0" u="none" strike="noStrike" cap="none" normalizeH="0" baseline="0" dirty="0">
                <a:ln>
                  <a:noFill/>
                </a:ln>
                <a:solidFill>
                  <a:schemeClr val="tx1"/>
                </a:solidFill>
                <a:effectLst/>
                <a:latin typeface="Arial" panose="020B0604020202020204" pitchFamily="34" charset="0"/>
              </a:rPr>
              <a:t> Implementing distinct login modules for Administrators and Passengers to ensure data security and proper access control.</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Notification System:</a:t>
            </a:r>
            <a:r>
              <a:rPr kumimoji="0" lang="en-US" altLang="en-US" sz="1800" b="0" i="0" u="none" strike="noStrike" cap="none" normalizeH="0" baseline="0" dirty="0">
                <a:ln>
                  <a:noFill/>
                </a:ln>
                <a:solidFill>
                  <a:schemeClr val="tx1"/>
                </a:solidFill>
                <a:effectLst/>
                <a:latin typeface="Arial" panose="020B0604020202020204" pitchFamily="34" charset="0"/>
              </a:rPr>
              <a:t> Integrating email or SMS services to send automated booking confirmations and flight status updates to passengers.</a:t>
            </a:r>
          </a:p>
        </p:txBody>
      </p:sp>
      <p:sp>
        <p:nvSpPr>
          <p:cNvPr id="10" name="Footer Placeholder 3">
            <a:extLst>
              <a:ext uri="{FF2B5EF4-FFF2-40B4-BE49-F238E27FC236}">
                <a16:creationId xmlns:a16="http://schemas.microsoft.com/office/drawing/2014/main" id="{D02F1C1C-8E93-98EE-A6F9-0B8C54DCB0AF}"/>
              </a:ext>
            </a:extLst>
          </p:cNvPr>
          <p:cNvSpPr>
            <a:spLocks noGrp="1"/>
          </p:cNvSpPr>
          <p:nvPr>
            <p:ph type="ftr" idx="11"/>
          </p:nvPr>
        </p:nvSpPr>
        <p:spPr>
          <a:xfrm>
            <a:off x="199697" y="6356350"/>
            <a:ext cx="8860220" cy="365125"/>
          </a:xfrm>
        </p:spPr>
        <p:txBody>
          <a:bodyPr/>
          <a:lstStyle/>
          <a:p>
            <a:pPr algn="l"/>
            <a:r>
              <a:rPr lang="en-US" dirty="0"/>
              <a:t>School of Computer Science and Engineering                                       Date: 18/12/2025                                                               Slide number:</a:t>
            </a:r>
          </a:p>
        </p:txBody>
      </p:sp>
    </p:spTree>
    <p:extLst>
      <p:ext uri="{BB962C8B-B14F-4D97-AF65-F5344CB8AC3E}">
        <p14:creationId xmlns:p14="http://schemas.microsoft.com/office/powerpoint/2010/main" val="213665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114300" indent="0" algn="ctr">
              <a:buNone/>
            </a:pPr>
            <a:endParaRPr lang="en-US" dirty="0"/>
          </a:p>
          <a:p>
            <a:pPr marL="114300" indent="0" algn="ctr">
              <a:buNone/>
            </a:pPr>
            <a:endParaRPr lang="en-US" sz="4400" dirty="0">
              <a:latin typeface="Times New Roman" panose="02020603050405020304" pitchFamily="18" charset="0"/>
              <a:cs typeface="Times New Roman" panose="02020603050405020304" pitchFamily="18" charset="0"/>
            </a:endParaRPr>
          </a:p>
          <a:p>
            <a:pPr marL="114300" indent="0" algn="ctr">
              <a:buNone/>
            </a:pPr>
            <a:r>
              <a:rPr lang="en-US" sz="4400" dirty="0">
                <a:latin typeface="Times New Roman" panose="02020603050405020304" pitchFamily="18" charset="0"/>
                <a:cs typeface="Times New Roman" panose="02020603050405020304" pitchFamily="18" charset="0"/>
              </a:rPr>
              <a:t>THANK YOU</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266983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TotalTime>
  <Words>1151</Words>
  <Application>Microsoft Office PowerPoint</Application>
  <PresentationFormat>On-screen Show (4:3)</PresentationFormat>
  <Paragraphs>139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SRM INSTITUTE OF SCIENCE AND TECHNOLOGY Chennai – 600 089 SCHOOL OF COMPUTER SCIENCE ENGINEERING  DEPARTMENT OF COMPUTER SCIENCE AND ENGINEERING W/S IN ARTIFICIAL INTELLIGENCE AND MACHINE LEARNING </vt:lpstr>
      <vt:lpstr>AGENDA</vt:lpstr>
      <vt:lpstr>ABSTRACT</vt:lpstr>
      <vt:lpstr>SCOPE AND MOTIVATION</vt:lpstr>
      <vt:lpstr>INTRODUCTION</vt:lpstr>
      <vt:lpstr>OBJECTIVES</vt:lpstr>
      <vt:lpstr>PROBLEM STATEMENT</vt:lpstr>
      <vt:lpstr>PROPOSED WORK-ARCHITECTURE DIAGRAM</vt:lpstr>
      <vt:lpstr>PROPOSED WORK-ER DIAGRAM</vt:lpstr>
      <vt:lpstr>PROPOSED-NOVEL IDEA</vt:lpstr>
      <vt:lpstr>PROPOSED-MODULES</vt:lpstr>
      <vt:lpstr>MODULE OUTPUT </vt:lpstr>
      <vt:lpstr>MODULE OUTPUT </vt:lpstr>
      <vt:lpstr>RESULTS AND DISCUSSIONS</vt:lpstr>
      <vt:lpstr>CONCLUSION</vt:lpstr>
      <vt:lpstr>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 R M INSTITUTE OF SCIENCE AND TECHNOLOGY Chennai – 600 089 SCHOOL OF COMPUTER SCIENCE ENGINEERING  DEPARTMENT OF COMPUTER SCIENCE AND ENGINEERING</dc:title>
  <dc:creator>DELL</dc:creator>
  <cp:lastModifiedBy>K Tamilselvan</cp:lastModifiedBy>
  <cp:revision>17</cp:revision>
  <dcterms:created xsi:type="dcterms:W3CDTF">2023-07-26T03:49:14Z</dcterms:created>
  <dcterms:modified xsi:type="dcterms:W3CDTF">2025-12-18T04:57:45Z</dcterms:modified>
</cp:coreProperties>
</file>